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78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03774" y="1021110"/>
            <a:ext cx="433645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0"/>
              </a:lnSpc>
              <a:spcAft>
                <a:spcPts val="1500"/>
              </a:spcAft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2342294" y="2278410"/>
            <a:ext cx="44592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Aft>
                <a:spcPts val="900"/>
              </a:spcAft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as Code for Azure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3128337" y="2926110"/>
            <a:ext cx="2887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225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Guide to Cloud Automation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984897" y="3630960"/>
            <a:ext cx="3174206" cy="491430"/>
          </a:xfrm>
          <a:prstGeom prst="roundRect">
            <a:avLst>
              <a:gd name="adj" fmla="val 11629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186327" y="3802410"/>
            <a:ext cx="277134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• Implementation • Best Practices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658267"/>
            <a:ext cx="43816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500"/>
              </a:spcAft>
              <a:buNone/>
            </a:pPr>
            <a:r>
              <a:rPr lang="en-US" sz="36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Terraform?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85750" y="1458367"/>
            <a:ext cx="8572500" cy="845641"/>
          </a:xfrm>
          <a:prstGeom prst="roundRect">
            <a:avLst>
              <a:gd name="adj" fmla="val 4505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8150" y="1648867"/>
            <a:ext cx="843305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as Code (IaC) Tool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38150" y="1964978"/>
            <a:ext cx="843305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and manage infrastructure using declarative configuration files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85750" y="2608808"/>
            <a:ext cx="2755850" cy="788640"/>
          </a:xfrm>
          <a:prstGeom prst="roundRect">
            <a:avLst>
              <a:gd name="adj" fmla="val 483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04800" y="2608808"/>
            <a:ext cx="0" cy="78864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780258"/>
            <a:ext cx="25000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104108"/>
            <a:ext cx="250007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by HashiCorp, free to use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194000" y="2608808"/>
            <a:ext cx="2755850" cy="788640"/>
          </a:xfrm>
          <a:prstGeom prst="roundRect">
            <a:avLst>
              <a:gd name="adj" fmla="val 483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213050" y="2608808"/>
            <a:ext cx="0" cy="788640"/>
          </a:xfrm>
          <a:prstGeom prst="line">
            <a:avLst/>
          </a:prstGeom>
          <a:noFill/>
          <a:ln w="38100">
            <a:solidFill>
              <a:srgbClr val="00BC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5450" y="2780258"/>
            <a:ext cx="25000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00B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Multi-Cloud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65450" y="3104108"/>
            <a:ext cx="250007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Azure, AWS, GCP, 3000+ providers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102251" y="2608808"/>
            <a:ext cx="2755850" cy="788640"/>
          </a:xfrm>
          <a:prstGeom prst="roundRect">
            <a:avLst>
              <a:gd name="adj" fmla="val 483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121301" y="2608808"/>
            <a:ext cx="0" cy="78864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73701" y="2780258"/>
            <a:ext cx="25000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Declarative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73701" y="3104108"/>
            <a:ext cx="250007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what you want, not how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85750" y="3683198"/>
            <a:ext cx="8572500" cy="801886"/>
          </a:xfrm>
          <a:prstGeom prst="roundRect">
            <a:avLst>
              <a:gd name="adj" fmla="val 4751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04800" y="3683198"/>
            <a:ext cx="0" cy="801886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854648"/>
            <a:ext cx="84330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 - HashiCorp Configuration Language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4178498"/>
            <a:ext cx="843305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Human-readable syntax, easy to learn and write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1229023"/>
            <a:ext cx="43816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350"/>
              </a:spcAft>
              <a:buNone/>
            </a:pPr>
            <a:r>
              <a:rPr lang="en-US" sz="36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Terraform?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85750" y="2010073"/>
            <a:ext cx="4133850" cy="1732955"/>
          </a:xfrm>
          <a:prstGeom prst="roundRect">
            <a:avLst>
              <a:gd name="adj" fmla="val 2199"/>
            </a:avLst>
          </a:prstGeom>
          <a:solidFill>
            <a:srgbClr val="FF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04800" y="2010073"/>
            <a:ext cx="0" cy="1732955"/>
          </a:xfrm>
          <a:prstGeom prst="line">
            <a:avLst/>
          </a:prstGeom>
          <a:noFill/>
          <a:ln w="38100">
            <a:solidFill>
              <a:srgbClr val="DC3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6250" y="2200573"/>
            <a:ext cx="38667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1125" b="1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Way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476250" y="2495848"/>
            <a:ext cx="38667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Log into Azure Portal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476250" y="2726234"/>
            <a:ext cx="38667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Click through many screens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476250" y="2956620"/>
            <a:ext cx="38667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Configure each setting manually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76250" y="3187005"/>
            <a:ext cx="38667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Repeat for each environment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476250" y="3417391"/>
            <a:ext cx="38667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b="1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 Hours - Error-prone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4724400" y="2010073"/>
            <a:ext cx="4133850" cy="1732955"/>
          </a:xfrm>
          <a:prstGeom prst="roundRect">
            <a:avLst>
              <a:gd name="adj" fmla="val 2199"/>
            </a:avLst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743450" y="2010073"/>
            <a:ext cx="0" cy="1732955"/>
          </a:xfrm>
          <a:prstGeom prst="line">
            <a:avLst/>
          </a:prstGeom>
          <a:noFill/>
          <a:ln w="38100">
            <a:solidFill>
              <a:srgbClr val="28A7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4900" y="2200573"/>
            <a:ext cx="38667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1125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Way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4914900" y="2495848"/>
            <a:ext cx="38667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Write configuration once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4914900" y="2726234"/>
            <a:ext cx="38667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Store in version control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4914900" y="2956620"/>
            <a:ext cx="38667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Run: terraform apply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4914900" y="3187005"/>
            <a:ext cx="38667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Reuse across environments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4914900" y="3417391"/>
            <a:ext cx="38667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 Minutes - Reliable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853380"/>
            <a:ext cx="64802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Terraform-Azure 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85750" y="1615380"/>
            <a:ext cx="8572500" cy="533400"/>
          </a:xfrm>
          <a:prstGeom prst="roundRect">
            <a:avLst>
              <a:gd name="adj" fmla="val 7143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16611" y="1767780"/>
            <a:ext cx="85107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Terraform Connects to Azure Internally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85750" y="2434530"/>
            <a:ext cx="1905000" cy="533400"/>
          </a:xfrm>
          <a:prstGeom prst="roundRect">
            <a:avLst>
              <a:gd name="adj" fmla="val 714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04800" y="2434530"/>
            <a:ext cx="0" cy="53340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1767" y="2586930"/>
            <a:ext cx="16710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.tf Files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286000" y="2581275"/>
            <a:ext cx="17487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552700" y="2434530"/>
            <a:ext cx="1905000" cy="533400"/>
          </a:xfrm>
          <a:prstGeom prst="roundRect">
            <a:avLst>
              <a:gd name="adj" fmla="val 7143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571750" y="2434530"/>
            <a:ext cx="0" cy="53340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88717" y="2586930"/>
            <a:ext cx="16710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Core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52950" y="2581275"/>
            <a:ext cx="17487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819650" y="2434530"/>
            <a:ext cx="1905000" cy="533400"/>
          </a:xfrm>
          <a:prstGeom prst="roundRect">
            <a:avLst>
              <a:gd name="adj" fmla="val 7143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838700" y="2434530"/>
            <a:ext cx="0" cy="533400"/>
          </a:xfrm>
          <a:prstGeom prst="line">
            <a:avLst/>
          </a:prstGeom>
          <a:noFill/>
          <a:ln w="38100">
            <a:solidFill>
              <a:srgbClr val="00BC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55667" y="2586930"/>
            <a:ext cx="16710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Provider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85750" y="3082230"/>
            <a:ext cx="1905000" cy="533400"/>
          </a:xfrm>
          <a:prstGeom prst="roundRect">
            <a:avLst>
              <a:gd name="adj" fmla="val 7143"/>
            </a:avLst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04800" y="3082230"/>
            <a:ext cx="0" cy="533400"/>
          </a:xfrm>
          <a:prstGeom prst="line">
            <a:avLst/>
          </a:prstGeom>
          <a:noFill/>
          <a:ln w="38100">
            <a:solidFill>
              <a:srgbClr val="28A7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1767" y="3234630"/>
            <a:ext cx="16710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Resources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286000" y="3228975"/>
            <a:ext cx="17487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2552700" y="3082230"/>
            <a:ext cx="1905000" cy="533400"/>
          </a:xfrm>
          <a:prstGeom prst="roundRect">
            <a:avLst>
              <a:gd name="adj" fmla="val 7143"/>
            </a:avLst>
          </a:prstGeom>
          <a:solidFill>
            <a:srgbClr val="D1EC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2571750" y="3082230"/>
            <a:ext cx="0" cy="53340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88717" y="3234630"/>
            <a:ext cx="16710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REST API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52950" y="3228975"/>
            <a:ext cx="17487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819650" y="3082230"/>
            <a:ext cx="1905000" cy="533400"/>
          </a:xfrm>
          <a:prstGeom prst="roundRect">
            <a:avLst>
              <a:gd name="adj" fmla="val 7143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838700" y="3082230"/>
            <a:ext cx="0" cy="53340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5667" y="3234630"/>
            <a:ext cx="16710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285750" y="3901380"/>
            <a:ext cx="8572500" cy="388590"/>
          </a:xfrm>
          <a:prstGeom prst="roundRect">
            <a:avLst>
              <a:gd name="adj" fmla="val 9805"/>
            </a:avLst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304800" y="3901380"/>
            <a:ext cx="0" cy="388590"/>
          </a:xfrm>
          <a:prstGeom prst="line">
            <a:avLst/>
          </a:prstGeom>
          <a:noFill/>
          <a:ln w="38100">
            <a:solidFill>
              <a:srgbClr val="FFC10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9100" y="4034730"/>
            <a:ext cx="851077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sends commands to Provider, Provider makes HTTPS calls to Azure ARM API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902047"/>
            <a:ext cx="57321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Components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85750" y="1664047"/>
            <a:ext cx="4229100" cy="948630"/>
          </a:xfrm>
          <a:prstGeom prst="roundRect">
            <a:avLst>
              <a:gd name="adj" fmla="val 4016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04800" y="1664047"/>
            <a:ext cx="0" cy="94863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35497"/>
            <a:ext cx="40027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CLI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159347"/>
            <a:ext cx="400278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Command-line tool you use. Reads configuration files and executes commands.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629150" y="1664047"/>
            <a:ext cx="4229100" cy="948630"/>
          </a:xfrm>
          <a:prstGeom prst="roundRect">
            <a:avLst>
              <a:gd name="adj" fmla="val 4016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648200" y="1664047"/>
            <a:ext cx="0" cy="94863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835497"/>
            <a:ext cx="40027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Core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00600" y="2159347"/>
            <a:ext cx="400278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that parses HCL, builds dependency graphs, manages execution order.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85750" y="2726978"/>
            <a:ext cx="4229100" cy="788640"/>
          </a:xfrm>
          <a:prstGeom prst="roundRect">
            <a:avLst>
              <a:gd name="adj" fmla="val 4831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04800" y="2726978"/>
            <a:ext cx="0" cy="788640"/>
          </a:xfrm>
          <a:prstGeom prst="line">
            <a:avLst/>
          </a:prstGeom>
          <a:noFill/>
          <a:ln w="38100">
            <a:solidFill>
              <a:srgbClr val="00BC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898428"/>
            <a:ext cx="40027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00B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Plugins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3222278"/>
            <a:ext cx="40027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provider translates Terraform calls to Azure ARM API calls via HTTPS.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29150" y="2726978"/>
            <a:ext cx="4229100" cy="788640"/>
          </a:xfrm>
          <a:prstGeom prst="roundRect">
            <a:avLst>
              <a:gd name="adj" fmla="val 4831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48200" y="2726978"/>
            <a:ext cx="0" cy="788640"/>
          </a:xfrm>
          <a:prstGeom prst="line">
            <a:avLst/>
          </a:prstGeom>
          <a:noFill/>
          <a:ln w="38100">
            <a:solidFill>
              <a:srgbClr val="00BC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898428"/>
            <a:ext cx="40027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00B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Backend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00600" y="3222278"/>
            <a:ext cx="40027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terraform.tfstate tracking real infrastructure mapping to configuration.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85750" y="3801368"/>
            <a:ext cx="8572500" cy="439936"/>
          </a:xfrm>
          <a:prstGeom prst="roundRect">
            <a:avLst>
              <a:gd name="adj" fmla="val 8660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00050" y="3953768"/>
            <a:ext cx="851077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Flow: CLI to Core to Provider to Azure ARM API to Azure Services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371475"/>
            <a:ext cx="43816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Call Example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85750" y="1133475"/>
            <a:ext cx="8572500" cy="533400"/>
          </a:xfrm>
          <a:prstGeom prst="roundRect">
            <a:avLst>
              <a:gd name="adj" fmla="val 7143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04800" y="1133475"/>
            <a:ext cx="0" cy="53340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150" y="1285875"/>
            <a:ext cx="84719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 run: terraform apply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85750" y="1933575"/>
            <a:ext cx="8572500" cy="2838450"/>
          </a:xfrm>
          <a:prstGeom prst="roundRect">
            <a:avLst>
              <a:gd name="adj" fmla="val 1342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19100" y="2105025"/>
            <a:ext cx="84719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Core reads main.tf and state file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9100" y="2428875"/>
            <a:ext cx="84719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Builds dependency graph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9100" y="2752725"/>
            <a:ext cx="84719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Provider receives create request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9100" y="3076575"/>
            <a:ext cx="84719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Provider authenticates with Azure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19100" y="3400425"/>
            <a:ext cx="84719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Sends HTTPS POST to Azure management API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9100" y="3724275"/>
            <a:ext cx="84719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Azure validates and creates resource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19100" y="4048125"/>
            <a:ext cx="84719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</a:t>
            </a:r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Azure returns resource ID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9100" y="4371975"/>
            <a:ext cx="84719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</a:t>
            </a:r>
            <a:pPr algn="l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Terraform updates state file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893415"/>
            <a:ext cx="56155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Terraform Concepts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85750" y="1655415"/>
            <a:ext cx="4229100" cy="788640"/>
          </a:xfrm>
          <a:prstGeom prst="roundRect">
            <a:avLst>
              <a:gd name="adj" fmla="val 4831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04800" y="1655415"/>
            <a:ext cx="0" cy="78864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6865"/>
            <a:ext cx="40027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150715"/>
            <a:ext cx="40027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Plugins enabling Terraform to interact with cloud platforms and APIs.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629150" y="1655415"/>
            <a:ext cx="4229100" cy="788640"/>
          </a:xfrm>
          <a:prstGeom prst="roundRect">
            <a:avLst>
              <a:gd name="adj" fmla="val 4831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648200" y="1655415"/>
            <a:ext cx="0" cy="788640"/>
          </a:xfrm>
          <a:prstGeom prst="line">
            <a:avLst/>
          </a:prstGeom>
          <a:noFill/>
          <a:ln w="38100">
            <a:solidFill>
              <a:srgbClr val="00BC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826865"/>
            <a:ext cx="40027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00B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00600" y="2150715"/>
            <a:ext cx="40027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objects: VMs, networks, storage, databases to manage.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85750" y="2558355"/>
            <a:ext cx="4229100" cy="788640"/>
          </a:xfrm>
          <a:prstGeom prst="roundRect">
            <a:avLst>
              <a:gd name="adj" fmla="val 4831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04800" y="2558355"/>
            <a:ext cx="0" cy="78864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729805"/>
            <a:ext cx="40027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3053655"/>
            <a:ext cx="40027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file tracking infrastructure. Maps real resources to configuration.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29150" y="2558355"/>
            <a:ext cx="4229100" cy="788640"/>
          </a:xfrm>
          <a:prstGeom prst="roundRect">
            <a:avLst>
              <a:gd name="adj" fmla="val 4831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48200" y="2558355"/>
            <a:ext cx="0" cy="788640"/>
          </a:xfrm>
          <a:prstGeom prst="line">
            <a:avLst/>
          </a:prstGeom>
          <a:noFill/>
          <a:ln w="38100">
            <a:solidFill>
              <a:srgbClr val="00BC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729805"/>
            <a:ext cx="40027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00B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00600" y="3053655"/>
            <a:ext cx="40027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packages of configurations. Like functions in programming.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85750" y="3461296"/>
            <a:ext cx="4229100" cy="788640"/>
          </a:xfrm>
          <a:prstGeom prst="roundRect">
            <a:avLst>
              <a:gd name="adj" fmla="val 4831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304800" y="3461296"/>
            <a:ext cx="0" cy="78864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632746"/>
            <a:ext cx="40027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7200" y="3956596"/>
            <a:ext cx="40027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parameters making configs flexible across environments.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29150" y="3461296"/>
            <a:ext cx="4229100" cy="788640"/>
          </a:xfrm>
          <a:prstGeom prst="roundRect">
            <a:avLst>
              <a:gd name="adj" fmla="val 4831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648200" y="3461296"/>
            <a:ext cx="0" cy="788640"/>
          </a:xfrm>
          <a:prstGeom prst="line">
            <a:avLst/>
          </a:prstGeom>
          <a:noFill/>
          <a:ln w="38100">
            <a:solidFill>
              <a:srgbClr val="00BC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3632746"/>
            <a:ext cx="40027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00B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800600" y="3956596"/>
            <a:ext cx="40027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 exported after apply. Share data between modules.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1176338"/>
            <a:ext cx="4391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Workflow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023938" y="1938337"/>
            <a:ext cx="666750" cy="666750"/>
          </a:xfrm>
          <a:prstGeom prst="roundRect">
            <a:avLst>
              <a:gd name="adj" fmla="val 137143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303270" y="2138363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64319" y="2719388"/>
            <a:ext cx="21859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64319" y="3043238"/>
            <a:ext cx="21859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Initialize and download providers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167063" y="1938337"/>
            <a:ext cx="666750" cy="666750"/>
          </a:xfrm>
          <a:prstGeom prst="roundRect">
            <a:avLst>
              <a:gd name="adj" fmla="val 137143"/>
            </a:avLst>
          </a:prstGeom>
          <a:solidFill>
            <a:srgbClr val="00BC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46395" y="2138363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407444" y="2719388"/>
            <a:ext cx="21859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407444" y="3043238"/>
            <a:ext cx="21859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configuration syntax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310188" y="1938337"/>
            <a:ext cx="666750" cy="666750"/>
          </a:xfrm>
          <a:prstGeom prst="roundRect">
            <a:avLst>
              <a:gd name="adj" fmla="val 137143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589520" y="2138363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50569" y="2719388"/>
            <a:ext cx="21859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50569" y="3043238"/>
            <a:ext cx="21859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what will change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453312" y="1938337"/>
            <a:ext cx="666750" cy="666750"/>
          </a:xfrm>
          <a:prstGeom prst="roundRect">
            <a:avLst>
              <a:gd name="adj" fmla="val 137143"/>
            </a:avLst>
          </a:prstGeom>
          <a:solidFill>
            <a:srgbClr val="28A7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732645" y="2138363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93694" y="2719388"/>
            <a:ext cx="21859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93694" y="3043238"/>
            <a:ext cx="21859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and create resources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85750" y="3527078"/>
            <a:ext cx="8572500" cy="439936"/>
          </a:xfrm>
          <a:prstGeom prst="roundRect">
            <a:avLst>
              <a:gd name="adj" fmla="val 866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00050" y="3679478"/>
            <a:ext cx="851077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destroy:</a:t>
            </a:r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Tear down infrastructure when no longer needed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545009"/>
            <a:ext cx="43816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350"/>
              </a:spcAft>
              <a:buNone/>
            </a:pPr>
            <a:r>
              <a:rPr lang="en-US" sz="36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Started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85750" y="1326059"/>
            <a:ext cx="8572500" cy="839986"/>
          </a:xfrm>
          <a:prstGeom prst="roundRect">
            <a:avLst>
              <a:gd name="adj" fmla="val 4536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04800" y="1326059"/>
            <a:ext cx="0" cy="839986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6250" y="1516559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Install Terraform CLI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76250" y="1840409"/>
            <a:ext cx="839419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from terraform.io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285750" y="2451795"/>
            <a:ext cx="8572500" cy="839986"/>
          </a:xfrm>
          <a:prstGeom prst="roundRect">
            <a:avLst>
              <a:gd name="adj" fmla="val 4536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04800" y="2451795"/>
            <a:ext cx="0" cy="839986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6250" y="2642295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Azure Subscription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6250" y="2966145"/>
            <a:ext cx="839419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account with permissions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285750" y="3577530"/>
            <a:ext cx="8572500" cy="839986"/>
          </a:xfrm>
          <a:prstGeom prst="roundRect">
            <a:avLst>
              <a:gd name="adj" fmla="val 4536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04800" y="3577530"/>
            <a:ext cx="0" cy="839986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6250" y="3768030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Install Azure CLI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6250" y="4091880"/>
            <a:ext cx="839419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Authenticate with: az login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350937"/>
            <a:ext cx="475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350"/>
              </a:spcAft>
              <a:buNone/>
            </a:pPr>
            <a:r>
              <a:rPr lang="en-US" sz="36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Provider Setup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85750" y="1131987"/>
            <a:ext cx="8572500" cy="754261"/>
          </a:xfrm>
          <a:prstGeom prst="roundRect">
            <a:avLst>
              <a:gd name="adj" fmla="val 5051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19100" y="1303437"/>
            <a:ext cx="84719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Connecting Terraform to Azure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419100" y="1579662"/>
            <a:ext cx="847191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provider block tells Terraform how to communicate with Azure services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285750" y="2191048"/>
            <a:ext cx="8572500" cy="1875830"/>
          </a:xfrm>
          <a:prstGeom prst="roundRect">
            <a:avLst>
              <a:gd name="adj" fmla="val 203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38150" y="2381548"/>
            <a:ext cx="84330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Configuration: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38150" y="2743498"/>
            <a:ext cx="843305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Terraform Block:</a:t>
            </a:r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Specify required version (example: greater than or equal to 1.0)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38150" y="2992934"/>
            <a:ext cx="843305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Provider Block:</a:t>
            </a:r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Configure azurerm provider from hashicorp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438150" y="3242370"/>
            <a:ext cx="843305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Version Constraint:</a:t>
            </a:r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~&gt; 3.0 (means: 3.0 to 3.9, not 4.0)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438150" y="3491805"/>
            <a:ext cx="843305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Features Block:</a:t>
            </a:r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Required even if empty - Azure-specific settings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438150" y="3741241"/>
            <a:ext cx="843305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Credentials:</a:t>
            </a:r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subscription_id and tenant_id from variables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285750" y="4352627"/>
            <a:ext cx="8572500" cy="439936"/>
          </a:xfrm>
          <a:prstGeom prst="roundRect">
            <a:avLst>
              <a:gd name="adj" fmla="val 8660"/>
            </a:avLst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04800" y="4352627"/>
            <a:ext cx="0" cy="439936"/>
          </a:xfrm>
          <a:prstGeom prst="line">
            <a:avLst/>
          </a:prstGeom>
          <a:noFill/>
          <a:ln w="38100">
            <a:solidFill>
              <a:srgbClr val="FFC10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150" y="4505027"/>
            <a:ext cx="847191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Important:</a:t>
            </a:r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Provider is downloaded during terraform init command</a:t>
            </a:r>
            <a:endParaRPr lang="en-US" sz="9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1226939"/>
            <a:ext cx="53143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350"/>
              </a:spcAft>
              <a:buNone/>
            </a:pPr>
            <a:r>
              <a:rPr lang="en-US" sz="36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Methods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85750" y="2007989"/>
            <a:ext cx="2768501" cy="1163687"/>
          </a:xfrm>
          <a:prstGeom prst="roundRect">
            <a:avLst>
              <a:gd name="adj" fmla="val 3274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04800" y="2007989"/>
            <a:ext cx="0" cy="1163687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179439"/>
            <a:ext cx="2512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CLI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522339"/>
            <a:ext cx="25129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For:</a:t>
            </a:r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Local development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457200" y="2707035"/>
            <a:ext cx="25129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Setup:</a:t>
            </a:r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az login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457200" y="2891730"/>
            <a:ext cx="25129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and interactive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187601" y="2007989"/>
            <a:ext cx="2768650" cy="1163687"/>
          </a:xfrm>
          <a:prstGeom prst="roundRect">
            <a:avLst>
              <a:gd name="adj" fmla="val 3274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206651" y="2007989"/>
            <a:ext cx="0" cy="1163687"/>
          </a:xfrm>
          <a:prstGeom prst="line">
            <a:avLst/>
          </a:prstGeom>
          <a:noFill/>
          <a:ln w="38100">
            <a:solidFill>
              <a:srgbClr val="00BC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9051" y="2179439"/>
            <a:ext cx="25131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0B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Principal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59051" y="2522339"/>
            <a:ext cx="251312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For:</a:t>
            </a:r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CI/CD pipelines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359051" y="2707035"/>
            <a:ext cx="251312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Setup:</a:t>
            </a:r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App registration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3359051" y="2891730"/>
            <a:ext cx="251312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Non-interactive, auditable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6089600" y="2007989"/>
            <a:ext cx="2768501" cy="1163687"/>
          </a:xfrm>
          <a:prstGeom prst="roundRect">
            <a:avLst>
              <a:gd name="adj" fmla="val 3274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108650" y="2007989"/>
            <a:ext cx="0" cy="1163687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1050" y="2179439"/>
            <a:ext cx="2512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Identity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61050" y="2522339"/>
            <a:ext cx="25129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For:</a:t>
            </a:r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Azure VMs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6261050" y="2707035"/>
            <a:ext cx="25129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Setup:</a:t>
            </a:r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Enable on VM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6261050" y="2891730"/>
            <a:ext cx="25129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credentials, most secure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285750" y="3476476"/>
            <a:ext cx="8572500" cy="439936"/>
          </a:xfrm>
          <a:prstGeom prst="roundRect">
            <a:avLst>
              <a:gd name="adj" fmla="val 8660"/>
            </a:avLst>
          </a:prstGeom>
          <a:solidFill>
            <a:srgbClr val="F8D7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304800" y="3476476"/>
            <a:ext cx="0" cy="439936"/>
          </a:xfrm>
          <a:prstGeom prst="line">
            <a:avLst/>
          </a:prstGeom>
          <a:noFill/>
          <a:ln w="38100">
            <a:solidFill>
              <a:srgbClr val="DC35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150" y="3628876"/>
            <a:ext cx="847191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Security:</a:t>
            </a:r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Never commit credentials to Git! Use environment variables or Key Vault.</a:t>
            </a:r>
            <a:endParaRPr lang="en-US" sz="9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1082278"/>
            <a:ext cx="59458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350"/>
              </a:spcAft>
              <a:buNone/>
            </a:pPr>
            <a:r>
              <a:rPr lang="en-US" sz="36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Azure Resources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85750" y="1863328"/>
            <a:ext cx="2793950" cy="624632"/>
          </a:xfrm>
          <a:prstGeom prst="roundRect">
            <a:avLst>
              <a:gd name="adj" fmla="val 610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00038" y="1863328"/>
            <a:ext cx="0" cy="624632"/>
          </a:xfrm>
          <a:prstGeom prst="line">
            <a:avLst/>
          </a:prstGeom>
          <a:noFill/>
          <a:ln w="28575">
            <a:solidFill>
              <a:srgbClr val="0078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8625" y="2015728"/>
            <a:ext cx="258751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Groups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428625" y="2227064"/>
            <a:ext cx="258751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azurerm_resource_group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3174950" y="1863328"/>
            <a:ext cx="2793950" cy="624632"/>
          </a:xfrm>
          <a:prstGeom prst="roundRect">
            <a:avLst>
              <a:gd name="adj" fmla="val 610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189238" y="1863328"/>
            <a:ext cx="0" cy="624632"/>
          </a:xfrm>
          <a:prstGeom prst="line">
            <a:avLst/>
          </a:prstGeom>
          <a:noFill/>
          <a:ln w="28575">
            <a:solidFill>
              <a:srgbClr val="0078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17825" y="2015728"/>
            <a:ext cx="258751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Networks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3317825" y="2227064"/>
            <a:ext cx="258751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azurerm_virtual_network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6064151" y="1863328"/>
            <a:ext cx="2794099" cy="624632"/>
          </a:xfrm>
          <a:prstGeom prst="roundRect">
            <a:avLst>
              <a:gd name="adj" fmla="val 610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078438" y="1863328"/>
            <a:ext cx="0" cy="624632"/>
          </a:xfrm>
          <a:prstGeom prst="line">
            <a:avLst/>
          </a:prstGeom>
          <a:noFill/>
          <a:ln w="28575">
            <a:solidFill>
              <a:srgbClr val="0078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07026" y="2015728"/>
            <a:ext cx="258766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Subnets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6207026" y="2227064"/>
            <a:ext cx="258766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azurerm_subnet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285750" y="2583210"/>
            <a:ext cx="2793950" cy="624632"/>
          </a:xfrm>
          <a:prstGeom prst="roundRect">
            <a:avLst>
              <a:gd name="adj" fmla="val 610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00038" y="2583210"/>
            <a:ext cx="0" cy="624632"/>
          </a:xfrm>
          <a:prstGeom prst="line">
            <a:avLst/>
          </a:prstGeom>
          <a:noFill/>
          <a:ln w="28575">
            <a:solidFill>
              <a:srgbClr val="00BC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8625" y="2735610"/>
            <a:ext cx="258751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Machines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428625" y="2946946"/>
            <a:ext cx="258751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azurerm_linux_virtual_machine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3174950" y="2583210"/>
            <a:ext cx="2793950" cy="624632"/>
          </a:xfrm>
          <a:prstGeom prst="roundRect">
            <a:avLst>
              <a:gd name="adj" fmla="val 610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3189238" y="2583210"/>
            <a:ext cx="0" cy="624632"/>
          </a:xfrm>
          <a:prstGeom prst="line">
            <a:avLst/>
          </a:prstGeom>
          <a:noFill/>
          <a:ln w="28575">
            <a:solidFill>
              <a:srgbClr val="00BC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7825" y="2735610"/>
            <a:ext cx="258751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Accounts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3317825" y="2946946"/>
            <a:ext cx="258751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azurerm_storage_account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6064151" y="2583210"/>
            <a:ext cx="2794099" cy="624632"/>
          </a:xfrm>
          <a:prstGeom prst="roundRect">
            <a:avLst>
              <a:gd name="adj" fmla="val 610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6078438" y="2583210"/>
            <a:ext cx="0" cy="624632"/>
          </a:xfrm>
          <a:prstGeom prst="line">
            <a:avLst/>
          </a:prstGeom>
          <a:noFill/>
          <a:ln w="28575">
            <a:solidFill>
              <a:srgbClr val="00BC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07026" y="2735610"/>
            <a:ext cx="258766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Databases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6207026" y="2946946"/>
            <a:ext cx="258766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azurerm_mssql_database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285750" y="3303091"/>
            <a:ext cx="2793950" cy="624632"/>
          </a:xfrm>
          <a:prstGeom prst="roundRect">
            <a:avLst>
              <a:gd name="adj" fmla="val 610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300038" y="3303091"/>
            <a:ext cx="0" cy="624632"/>
          </a:xfrm>
          <a:prstGeom prst="line">
            <a:avLst/>
          </a:prstGeom>
          <a:noFill/>
          <a:ln w="28575">
            <a:solidFill>
              <a:srgbClr val="0078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8625" y="3455491"/>
            <a:ext cx="258751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 Clusters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428625" y="3666827"/>
            <a:ext cx="258751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azurerm_kubernetes_cluster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3174950" y="3303091"/>
            <a:ext cx="2793950" cy="624632"/>
          </a:xfrm>
          <a:prstGeom prst="roundRect">
            <a:avLst>
              <a:gd name="adj" fmla="val 610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3189238" y="3303091"/>
            <a:ext cx="0" cy="624632"/>
          </a:xfrm>
          <a:prstGeom prst="line">
            <a:avLst/>
          </a:prstGeom>
          <a:noFill/>
          <a:ln w="28575">
            <a:solidFill>
              <a:srgbClr val="0078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17825" y="3455491"/>
            <a:ext cx="258751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Services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3317825" y="3666827"/>
            <a:ext cx="258751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azurerm_linux_web_app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6064151" y="3303091"/>
            <a:ext cx="2794099" cy="624632"/>
          </a:xfrm>
          <a:prstGeom prst="roundRect">
            <a:avLst>
              <a:gd name="adj" fmla="val 610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6078438" y="3303091"/>
            <a:ext cx="0" cy="624632"/>
          </a:xfrm>
          <a:prstGeom prst="line">
            <a:avLst/>
          </a:prstGeom>
          <a:noFill/>
          <a:ln w="28575">
            <a:solidFill>
              <a:srgbClr val="0078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07026" y="3455491"/>
            <a:ext cx="258766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Balancers</a:t>
            </a:r>
            <a:endParaRPr lang="en-US" sz="975" dirty="0"/>
          </a:p>
        </p:txBody>
      </p:sp>
      <p:sp>
        <p:nvSpPr>
          <p:cNvPr id="38" name="Text 36"/>
          <p:cNvSpPr/>
          <p:nvPr/>
        </p:nvSpPr>
        <p:spPr>
          <a:xfrm>
            <a:off x="6207026" y="3666827"/>
            <a:ext cx="258766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azurerm_lb</a:t>
            </a:r>
            <a:endParaRPr lang="en-US" sz="8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313730"/>
            <a:ext cx="60721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350"/>
              </a:spcAft>
              <a:buNone/>
            </a:pPr>
            <a:r>
              <a:rPr lang="en-US" sz="36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a Resource Group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85750" y="1094780"/>
            <a:ext cx="8572500" cy="504825"/>
          </a:xfrm>
          <a:prstGeom prst="roundRect">
            <a:avLst>
              <a:gd name="adj" fmla="val 7547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19100" y="1266230"/>
            <a:ext cx="84719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Groups are logical containers for Azure resources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285750" y="1904405"/>
            <a:ext cx="8572500" cy="1875830"/>
          </a:xfrm>
          <a:prstGeom prst="roundRect">
            <a:avLst>
              <a:gd name="adj" fmla="val 203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8150" y="2094905"/>
            <a:ext cx="84330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Create Resource Group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38150" y="2456855"/>
            <a:ext cx="843305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Type:</a:t>
            </a:r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azurerm_resource_group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438150" y="2706291"/>
            <a:ext cx="843305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Name:</a:t>
            </a:r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"main" (used to reference within Terraform)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38150" y="2955727"/>
            <a:ext cx="843305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Name:</a:t>
            </a:r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"rg-terraform-demo" (actual Azure resource name)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438150" y="3205163"/>
            <a:ext cx="843305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</a:t>
            </a:r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"East US" (Azure region)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438150" y="3454598"/>
            <a:ext cx="843305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Tags:</a:t>
            </a:r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environment=development, managed_by=terraform, project=demo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285750" y="4065984"/>
            <a:ext cx="8572500" cy="763786"/>
          </a:xfrm>
          <a:prstGeom prst="roundRect">
            <a:avLst>
              <a:gd name="adj" fmla="val 4988"/>
            </a:avLst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04800" y="4065984"/>
            <a:ext cx="0" cy="763786"/>
          </a:xfrm>
          <a:prstGeom prst="line">
            <a:avLst/>
          </a:prstGeom>
          <a:noFill/>
          <a:ln w="38100">
            <a:solidFill>
              <a:srgbClr val="28A7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150" y="4218384"/>
            <a:ext cx="84719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Outputs: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38150" y="4542234"/>
            <a:ext cx="847191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resource_group_id and resource_group_name for use by other resources or modules</a:t>
            </a:r>
            <a:endParaRPr lang="en-US" sz="9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854571"/>
            <a:ext cx="4284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500"/>
              </a:spcAft>
              <a:buNone/>
            </a:pPr>
            <a:r>
              <a:rPr lang="en-US" sz="36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Networks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1000" y="1654671"/>
            <a:ext cx="8382000" cy="839986"/>
          </a:xfrm>
          <a:prstGeom prst="roundRect">
            <a:avLst>
              <a:gd name="adj" fmla="val 4536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0050" y="1654671"/>
            <a:ext cx="0" cy="839986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1500" y="1845171"/>
            <a:ext cx="81998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Network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71500" y="2169021"/>
            <a:ext cx="819988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Resource: azurerm_virtual_network - Name: vnet-prod-eastus - Address: 10.0.0.0/16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381000" y="2780407"/>
            <a:ext cx="8382000" cy="839986"/>
          </a:xfrm>
          <a:prstGeom prst="roundRect">
            <a:avLst>
              <a:gd name="adj" fmla="val 4536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00050" y="2780407"/>
            <a:ext cx="0" cy="839986"/>
          </a:xfrm>
          <a:prstGeom prst="line">
            <a:avLst/>
          </a:prstGeom>
          <a:noFill/>
          <a:ln w="38100">
            <a:solidFill>
              <a:srgbClr val="00BC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1500" y="2970907"/>
            <a:ext cx="81998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00B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Subnet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71500" y="3294757"/>
            <a:ext cx="819988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Resource: azurerm_subnet - Name: subnet-web - Address: 10.0.1.0/24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381000" y="3906143"/>
            <a:ext cx="8382000" cy="478036"/>
          </a:xfrm>
          <a:prstGeom prst="roundRect">
            <a:avLst>
              <a:gd name="adj" fmla="val 7970"/>
            </a:avLst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00050" y="3906143"/>
            <a:ext cx="0" cy="478036"/>
          </a:xfrm>
          <a:prstGeom prst="line">
            <a:avLst/>
          </a:prstGeom>
          <a:noFill/>
          <a:ln w="38100">
            <a:solidFill>
              <a:srgbClr val="FFC10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2450" y="4077593"/>
            <a:ext cx="82387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Subnet depends on VNet. Terraform handles creation order automatically.</a:t>
            </a:r>
            <a:endParaRPr lang="en-US" sz="9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913805"/>
            <a:ext cx="49257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350"/>
              </a:spcAft>
              <a:buNone/>
            </a:pPr>
            <a:r>
              <a:rPr lang="en-US" sz="36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and Outputs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85750" y="1694855"/>
            <a:ext cx="4133850" cy="1809155"/>
          </a:xfrm>
          <a:prstGeom prst="roundRect">
            <a:avLst>
              <a:gd name="adj" fmla="val 2106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04800" y="1694855"/>
            <a:ext cx="0" cy="1809155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6250" y="1885355"/>
            <a:ext cx="38667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1125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Variables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476250" y="2180630"/>
            <a:ext cx="38667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</a:t>
            </a:r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Make configurations reusable and flexible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476250" y="2430066"/>
            <a:ext cx="38667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Types:</a:t>
            </a:r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string, number, bool, list, map, object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476250" y="2679502"/>
            <a:ext cx="38667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1:</a:t>
            </a:r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environment (string) - dev, staging, prod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76250" y="2928938"/>
            <a:ext cx="38667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2:</a:t>
            </a:r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vm_count (number) - how many VMs to create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476250" y="3178373"/>
            <a:ext cx="38667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3:</a:t>
            </a:r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tags (map) - key-value pairs for resources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4724400" y="1694855"/>
            <a:ext cx="4133850" cy="1809155"/>
          </a:xfrm>
          <a:prstGeom prst="roundRect">
            <a:avLst>
              <a:gd name="adj" fmla="val 2106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743450" y="1694855"/>
            <a:ext cx="0" cy="1809155"/>
          </a:xfrm>
          <a:prstGeom prst="line">
            <a:avLst/>
          </a:prstGeom>
          <a:noFill/>
          <a:ln w="38100">
            <a:solidFill>
              <a:srgbClr val="00BC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4900" y="1885355"/>
            <a:ext cx="38667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1125" b="1" dirty="0">
                <a:solidFill>
                  <a:srgbClr val="00B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Values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4914900" y="2180630"/>
            <a:ext cx="38667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</a:t>
            </a:r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Export data after terraform apply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4914900" y="2430066"/>
            <a:ext cx="38667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Uses:</a:t>
            </a:r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Share data between modules, display info to user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4914900" y="2679502"/>
            <a:ext cx="38667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1:</a:t>
            </a:r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resource_group_id - Full Azure resource ID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4914900" y="2928938"/>
            <a:ext cx="38667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2:</a:t>
            </a:r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public_ip - VM's public IP address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4914900" y="3178373"/>
            <a:ext cx="38667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Sensitive:</a:t>
            </a:r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Mark password outputs as sensitive=true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285750" y="3789759"/>
            <a:ext cx="8572500" cy="439936"/>
          </a:xfrm>
          <a:prstGeom prst="roundRect">
            <a:avLst>
              <a:gd name="adj" fmla="val 8660"/>
            </a:avLst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304800" y="3789759"/>
            <a:ext cx="0" cy="439936"/>
          </a:xfrm>
          <a:prstGeom prst="line">
            <a:avLst/>
          </a:prstGeom>
          <a:noFill/>
          <a:ln w="38100">
            <a:solidFill>
              <a:srgbClr val="FFC10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150" y="3942159"/>
            <a:ext cx="847191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Practice:</a:t>
            </a:r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terraform.tfvars file for variable values, never hardcode in main.tf</a:t>
            </a:r>
            <a:endParaRPr lang="en-US" sz="9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350937"/>
            <a:ext cx="43816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350"/>
              </a:spcAft>
              <a:buNone/>
            </a:pPr>
            <a:r>
              <a:rPr lang="en-US" sz="36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85750" y="1131987"/>
            <a:ext cx="8572500" cy="754261"/>
          </a:xfrm>
          <a:prstGeom prst="roundRect">
            <a:avLst>
              <a:gd name="adj" fmla="val 5051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19100" y="1303437"/>
            <a:ext cx="84719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Existing Infrastructure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419100" y="1579662"/>
            <a:ext cx="847191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 allow Terraform to read information about existing resources not managed by current configuration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285750" y="2191048"/>
            <a:ext cx="8572500" cy="1875830"/>
          </a:xfrm>
          <a:prstGeom prst="roundRect">
            <a:avLst>
              <a:gd name="adj" fmla="val 203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38150" y="2381548"/>
            <a:ext cx="84330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Use Cases: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38150" y="2743498"/>
            <a:ext cx="843305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Existing Virtual Network:</a:t>
            </a:r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Connect new subnets to existing VNet created outside Terraform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38150" y="2992934"/>
            <a:ext cx="843305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Subscription Info:</a:t>
            </a:r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Get current subscription ID, tenant ID, and other details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438150" y="3242370"/>
            <a:ext cx="843305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Key Vault Secrets:</a:t>
            </a:r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Retrieve passwords or connection strings from Azure Key Vault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438150" y="3491805"/>
            <a:ext cx="843305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Resource Groups:</a:t>
            </a:r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Reference existing resource groups for placing new resources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438150" y="3741241"/>
            <a:ext cx="843305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Images:</a:t>
            </a:r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Find latest VM image versions for deployments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285750" y="4352627"/>
            <a:ext cx="8572500" cy="439936"/>
          </a:xfrm>
          <a:prstGeom prst="roundRect">
            <a:avLst>
              <a:gd name="adj" fmla="val 8660"/>
            </a:avLst>
          </a:prstGeom>
          <a:solidFill>
            <a:srgbClr val="D1EC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04800" y="4352627"/>
            <a:ext cx="0" cy="439936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150" y="4505027"/>
            <a:ext cx="847191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Syntax:</a:t>
            </a:r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 "azurerm_resource_type" "name" - then reference as data.azurerm_resource_type.name</a:t>
            </a:r>
            <a:endParaRPr lang="en-US" sz="97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975420"/>
            <a:ext cx="43816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Management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85750" y="1737420"/>
            <a:ext cx="8572500" cy="750540"/>
          </a:xfrm>
          <a:prstGeom prst="roundRect">
            <a:avLst>
              <a:gd name="adj" fmla="val 5076"/>
            </a:avLst>
          </a:prstGeom>
          <a:solidFill>
            <a:srgbClr val="DC35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0050" y="1889820"/>
            <a:ext cx="85107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is Critical!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00050" y="2213670"/>
            <a:ext cx="851077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needs state to know what infrastructure exists and what needs to change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85750" y="2754660"/>
            <a:ext cx="4210050" cy="758130"/>
          </a:xfrm>
          <a:prstGeom prst="roundRect">
            <a:avLst>
              <a:gd name="adj" fmla="val 502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00050" y="2907060"/>
            <a:ext cx="40610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State Contains: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00050" y="3230910"/>
            <a:ext cx="4061079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IDs and attributes, Dependencies, Provider metadata, Sensitive values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4648200" y="2754660"/>
            <a:ext cx="4210050" cy="758130"/>
          </a:xfrm>
          <a:prstGeom prst="roundRect">
            <a:avLst>
              <a:gd name="adj" fmla="val 502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62500" y="2907060"/>
            <a:ext cx="40610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State Enables: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62500" y="3230910"/>
            <a:ext cx="4061079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mapping, Performance optimization, Team collaboration, Drift detection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285750" y="3779490"/>
            <a:ext cx="8572500" cy="388590"/>
          </a:xfrm>
          <a:prstGeom prst="roundRect">
            <a:avLst>
              <a:gd name="adj" fmla="val 9805"/>
            </a:avLst>
          </a:prstGeom>
          <a:solidFill>
            <a:srgbClr val="F8D7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04800" y="3779490"/>
            <a:ext cx="0" cy="388590"/>
          </a:xfrm>
          <a:prstGeom prst="line">
            <a:avLst/>
          </a:prstGeom>
          <a:noFill/>
          <a:ln w="38100">
            <a:solidFill>
              <a:srgbClr val="DC35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9100" y="3912840"/>
            <a:ext cx="851077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Warning:</a:t>
            </a:r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State files contain sensitive data. Protect like production credentials.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429964"/>
            <a:ext cx="6800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350"/>
              </a:spcAft>
              <a:buNone/>
            </a:pPr>
            <a:r>
              <a:rPr lang="en-US" sz="36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State in Azure Storage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85750" y="1211014"/>
            <a:ext cx="8572500" cy="504825"/>
          </a:xfrm>
          <a:prstGeom prst="roundRect">
            <a:avLst>
              <a:gd name="adj" fmla="val 7547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19100" y="1382464"/>
            <a:ext cx="84719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State in Azure Storage for Team Collaboration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285750" y="2020639"/>
            <a:ext cx="8572500" cy="1799630"/>
          </a:xfrm>
          <a:prstGeom prst="roundRect">
            <a:avLst>
              <a:gd name="adj" fmla="val 211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8150" y="2211139"/>
            <a:ext cx="84330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Configuration: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38150" y="2573089"/>
            <a:ext cx="843305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Backend:</a:t>
            </a:r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azurerm (Azure Resource Manager)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438150" y="2803475"/>
            <a:ext cx="843305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Group:</a:t>
            </a:r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rg-terraform-state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38150" y="3033861"/>
            <a:ext cx="843305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Account:</a:t>
            </a:r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sttfstate001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438150" y="3264247"/>
            <a:ext cx="843305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Container:</a:t>
            </a:r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tfstate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438150" y="3494633"/>
            <a:ext cx="843305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Key:</a:t>
            </a:r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prod.terraform.tfstate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285750" y="4106019"/>
            <a:ext cx="4133850" cy="750540"/>
          </a:xfrm>
          <a:prstGeom prst="roundRect">
            <a:avLst>
              <a:gd name="adj" fmla="val 5076"/>
            </a:avLst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04800" y="4106019"/>
            <a:ext cx="0" cy="750540"/>
          </a:xfrm>
          <a:prstGeom prst="line">
            <a:avLst/>
          </a:prstGeom>
          <a:noFill/>
          <a:ln w="38100">
            <a:solidFill>
              <a:srgbClr val="28A7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150" y="4258419"/>
            <a:ext cx="39444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38150" y="4582269"/>
            <a:ext cx="39444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collaboration, State locking, Encrypted, Versioning, RBAC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24400" y="4106019"/>
            <a:ext cx="4133850" cy="750540"/>
          </a:xfrm>
          <a:prstGeom prst="roundRect">
            <a:avLst>
              <a:gd name="adj" fmla="val 5076"/>
            </a:avLst>
          </a:prstGeom>
          <a:solidFill>
            <a:srgbClr val="D1EC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743450" y="4106019"/>
            <a:ext cx="0" cy="75054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76800" y="4258419"/>
            <a:ext cx="39444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76800" y="4582269"/>
            <a:ext cx="39444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storage account and container, configure backend, run terraform init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383381"/>
            <a:ext cx="78792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350"/>
              </a:spcAft>
              <a:buNone/>
            </a:pPr>
            <a:r>
              <a:rPr lang="en-US" sz="36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Dependencies and Resource Graph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85750" y="1164431"/>
            <a:ext cx="8572500" cy="754261"/>
          </a:xfrm>
          <a:prstGeom prst="roundRect">
            <a:avLst>
              <a:gd name="adj" fmla="val 5051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19100" y="1335881"/>
            <a:ext cx="84719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Builds a Dependency Graph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419100" y="1612106"/>
            <a:ext cx="847191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Automatically determines the correct order to create, update, or destroy resources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285750" y="2310110"/>
            <a:ext cx="4133850" cy="1732955"/>
          </a:xfrm>
          <a:prstGeom prst="roundRect">
            <a:avLst>
              <a:gd name="adj" fmla="val 2199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04800" y="2310110"/>
            <a:ext cx="0" cy="1732955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6250" y="2500610"/>
            <a:ext cx="38667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1125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Implicit Dependencies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476250" y="2795885"/>
            <a:ext cx="3866769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works:</a:t>
            </a:r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Terraform detects dependencies automatically when you reference one resource in another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476250" y="3218557"/>
            <a:ext cx="38667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Virtual Network references Resource Group name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476250" y="3467993"/>
            <a:ext cx="38667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</a:t>
            </a:r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Terraform creates Resource Group first, then Virtual Network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476250" y="3717429"/>
            <a:ext cx="38667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Practice:</a:t>
            </a:r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Prefer implicit over explicit when possible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4724400" y="2223492"/>
            <a:ext cx="4133850" cy="1906191"/>
          </a:xfrm>
          <a:prstGeom prst="roundRect">
            <a:avLst>
              <a:gd name="adj" fmla="val 1999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743450" y="2223492"/>
            <a:ext cx="0" cy="1906191"/>
          </a:xfrm>
          <a:prstGeom prst="line">
            <a:avLst/>
          </a:prstGeom>
          <a:noFill/>
          <a:ln w="38100">
            <a:solidFill>
              <a:srgbClr val="00BC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4900" y="2413992"/>
            <a:ext cx="38667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1125" b="1" dirty="0">
                <a:solidFill>
                  <a:srgbClr val="00B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Dependencies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4914900" y="2709267"/>
            <a:ext cx="38667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works:</a:t>
            </a:r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depends_on argument to force specific order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4914900" y="2958703"/>
            <a:ext cx="3866769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use:</a:t>
            </a:r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When implicit dependencies aren't detected automatically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4914900" y="3381375"/>
            <a:ext cx="3866769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VM depends on Network Security Group and Storage Account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4914900" y="3804047"/>
            <a:ext cx="38667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Syntax:</a:t>
            </a:r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depends_on equals list of resource references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285750" y="4415433"/>
            <a:ext cx="8572500" cy="439936"/>
          </a:xfrm>
          <a:prstGeom prst="roundRect">
            <a:avLst>
              <a:gd name="adj" fmla="val 8660"/>
            </a:avLst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304800" y="4415433"/>
            <a:ext cx="0" cy="439936"/>
          </a:xfrm>
          <a:prstGeom prst="line">
            <a:avLst/>
          </a:prstGeom>
          <a:noFill/>
          <a:ln w="38100">
            <a:solidFill>
              <a:srgbClr val="FFC10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150" y="4567833"/>
            <a:ext cx="847191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</a:t>
            </a:r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terraform graph command to visualize dependencies between all resources</a:t>
            </a:r>
            <a:endParaRPr lang="en-US" sz="97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847874"/>
            <a:ext cx="45565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Use Terraform?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85750" y="1609874"/>
            <a:ext cx="2781300" cy="1219051"/>
          </a:xfrm>
          <a:prstGeom prst="roundRect">
            <a:avLst>
              <a:gd name="adj" fmla="val 3125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19100" y="1781324"/>
            <a:ext cx="2564892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19100" y="2211735"/>
            <a:ext cx="25648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Control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9100" y="2535585"/>
            <a:ext cx="256489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all changes in Git with full audit trail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181350" y="1609874"/>
            <a:ext cx="2781300" cy="1219051"/>
          </a:xfrm>
          <a:prstGeom prst="roundRect">
            <a:avLst>
              <a:gd name="adj" fmla="val 3125"/>
            </a:avLst>
          </a:prstGeom>
          <a:solidFill>
            <a:srgbClr val="00BC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314700" y="1781324"/>
            <a:ext cx="2564892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3314700" y="2211735"/>
            <a:ext cx="25648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Reproducibility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314700" y="2535585"/>
            <a:ext cx="256489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Identical environments every time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076950" y="1609874"/>
            <a:ext cx="2781300" cy="1219051"/>
          </a:xfrm>
          <a:prstGeom prst="roundRect">
            <a:avLst>
              <a:gd name="adj" fmla="val 3125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10300" y="1781324"/>
            <a:ext cx="2564892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210300" y="2211735"/>
            <a:ext cx="25648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10300" y="2535585"/>
            <a:ext cx="256489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Minutes instead of hours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85750" y="2943225"/>
            <a:ext cx="2781300" cy="1219051"/>
          </a:xfrm>
          <a:prstGeom prst="roundRect">
            <a:avLst>
              <a:gd name="adj" fmla="val 3125"/>
            </a:avLst>
          </a:prstGeom>
          <a:solidFill>
            <a:srgbClr val="00BC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19100" y="3114675"/>
            <a:ext cx="2564892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419100" y="3545086"/>
            <a:ext cx="25648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Disaster Recovery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19100" y="3868936"/>
            <a:ext cx="256489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 infrastructure instantly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181350" y="2943225"/>
            <a:ext cx="2781300" cy="1219051"/>
          </a:xfrm>
          <a:prstGeom prst="roundRect">
            <a:avLst>
              <a:gd name="adj" fmla="val 3125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314700" y="3114675"/>
            <a:ext cx="2564892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3314700" y="3545086"/>
            <a:ext cx="25648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Control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314700" y="3868936"/>
            <a:ext cx="256489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environment spin up/down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076950" y="2943225"/>
            <a:ext cx="2781300" cy="1219051"/>
          </a:xfrm>
          <a:prstGeom prst="roundRect">
            <a:avLst>
              <a:gd name="adj" fmla="val 3125"/>
            </a:avLst>
          </a:prstGeom>
          <a:solidFill>
            <a:srgbClr val="00BC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210300" y="3114675"/>
            <a:ext cx="2564892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6210300" y="3545086"/>
            <a:ext cx="25648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Multi-Cloud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210300" y="3868936"/>
            <a:ext cx="256489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tool for all clouds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1053405"/>
            <a:ext cx="53921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vs ARM/Bicep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85750" y="1815405"/>
            <a:ext cx="2793950" cy="419100"/>
          </a:xfrm>
          <a:prstGeom prst="roundRect">
            <a:avLst>
              <a:gd name="adj" fmla="val 9091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35534" y="1891605"/>
            <a:ext cx="26943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174950" y="1815405"/>
            <a:ext cx="2793950" cy="419100"/>
          </a:xfrm>
          <a:prstGeom prst="roundRect">
            <a:avLst>
              <a:gd name="adj" fmla="val 9091"/>
            </a:avLst>
          </a:prstGeom>
          <a:solidFill>
            <a:srgbClr val="00BC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224735" y="1891605"/>
            <a:ext cx="26943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 Templates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064151" y="1815405"/>
            <a:ext cx="2794099" cy="419100"/>
          </a:xfrm>
          <a:prstGeom prst="roundRect">
            <a:avLst>
              <a:gd name="adj" fmla="val 9091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113934" y="1891605"/>
            <a:ext cx="269453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Bicep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85750" y="2329755"/>
            <a:ext cx="2793950" cy="110490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81000" y="2453580"/>
            <a:ext cx="26555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Cloud:</a:t>
            </a:r>
            <a:pPr algn="l" indent="0" marL="0">
              <a:lnSpc>
                <a:spcPts val="2100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Multi-cloud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81000" y="2748855"/>
            <a:ext cx="26555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Syntax:</a:t>
            </a:r>
            <a:pPr algn="l" indent="0" marL="0">
              <a:lnSpc>
                <a:spcPts val="2100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HCL (clean)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81000" y="3044130"/>
            <a:ext cx="26555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State:</a:t>
            </a:r>
            <a:pPr algn="l" indent="0" marL="0">
              <a:lnSpc>
                <a:spcPts val="2100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Explicit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74950" y="2329755"/>
            <a:ext cx="2793950" cy="110490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270200" y="2453580"/>
            <a:ext cx="26555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Cloud:</a:t>
            </a:r>
            <a:pPr algn="l" indent="0" marL="0">
              <a:lnSpc>
                <a:spcPts val="2100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Azure only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70200" y="2748855"/>
            <a:ext cx="26555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Syntax:</a:t>
            </a:r>
            <a:pPr algn="l" indent="0" marL="0">
              <a:lnSpc>
                <a:spcPts val="2100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JSON (verbose)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70200" y="3044130"/>
            <a:ext cx="26555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State:</a:t>
            </a:r>
            <a:pPr algn="l" indent="0" marL="0">
              <a:lnSpc>
                <a:spcPts val="2100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Azure managed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64151" y="2329755"/>
            <a:ext cx="2794099" cy="110490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159401" y="2453580"/>
            <a:ext cx="26556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Cloud:</a:t>
            </a:r>
            <a:pPr algn="l" indent="0" marL="0">
              <a:lnSpc>
                <a:spcPts val="2100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Azure only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159401" y="2748855"/>
            <a:ext cx="26556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Syntax:</a:t>
            </a:r>
            <a:pPr algn="l" indent="0" marL="0">
              <a:lnSpc>
                <a:spcPts val="2100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DSL (clean)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159401" y="3044130"/>
            <a:ext cx="26556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State:</a:t>
            </a:r>
            <a:pPr algn="l" indent="0" marL="0">
              <a:lnSpc>
                <a:spcPts val="2100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Azure managed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85750" y="3701355"/>
            <a:ext cx="8572500" cy="388590"/>
          </a:xfrm>
          <a:prstGeom prst="roundRect">
            <a:avLst>
              <a:gd name="adj" fmla="val 9805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97180" y="3834705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for multi-cloud. Bicep/ARM for Azure-only with simpler state.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1018282"/>
            <a:ext cx="43816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85750" y="1780282"/>
            <a:ext cx="4238625" cy="718096"/>
          </a:xfrm>
          <a:prstGeom prst="roundRect">
            <a:avLst>
              <a:gd name="adj" fmla="val 5306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04800" y="1780282"/>
            <a:ext cx="0" cy="718096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150" y="1932682"/>
            <a:ext cx="405136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Remote State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38150" y="2237482"/>
            <a:ext cx="40513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Storage backend with state locking for teams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4619625" y="1780282"/>
            <a:ext cx="4238625" cy="718096"/>
          </a:xfrm>
          <a:prstGeom prst="roundRect">
            <a:avLst>
              <a:gd name="adj" fmla="val 5306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638675" y="1780282"/>
            <a:ext cx="0" cy="718096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72025" y="1932682"/>
            <a:ext cx="405136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Control Everything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72025" y="2237482"/>
            <a:ext cx="40513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.tf files in Git, never commit state or secrets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285750" y="2593628"/>
            <a:ext cx="4238625" cy="718096"/>
          </a:xfrm>
          <a:prstGeom prst="roundRect">
            <a:avLst>
              <a:gd name="adj" fmla="val 5306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04800" y="2593628"/>
            <a:ext cx="0" cy="718096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150" y="2746028"/>
            <a:ext cx="405136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 Provider Versions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38150" y="3050828"/>
            <a:ext cx="40513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versions to prevent breaking changes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619625" y="2593628"/>
            <a:ext cx="4238625" cy="718096"/>
          </a:xfrm>
          <a:prstGeom prst="roundRect">
            <a:avLst>
              <a:gd name="adj" fmla="val 5306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38675" y="2593628"/>
            <a:ext cx="0" cy="718096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2025" y="2746028"/>
            <a:ext cx="405136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Modules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72025" y="3050828"/>
            <a:ext cx="40513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reusable patterns, share across teams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285750" y="3406973"/>
            <a:ext cx="4238625" cy="718096"/>
          </a:xfrm>
          <a:prstGeom prst="roundRect">
            <a:avLst>
              <a:gd name="adj" fmla="val 5306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304800" y="3406973"/>
            <a:ext cx="0" cy="718096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150" y="3559373"/>
            <a:ext cx="405136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All Resources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38150" y="3864173"/>
            <a:ext cx="40513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Environment, owner, project, cost center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619625" y="3406973"/>
            <a:ext cx="4238625" cy="718096"/>
          </a:xfrm>
          <a:prstGeom prst="roundRect">
            <a:avLst>
              <a:gd name="adj" fmla="val 5306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638675" y="3406973"/>
            <a:ext cx="0" cy="718096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2025" y="3559373"/>
            <a:ext cx="405136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Plan Before Apply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772025" y="3864173"/>
            <a:ext cx="40513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changes carefully before executing</a:t>
            </a:r>
            <a:endParaRPr lang="en-US" sz="8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970657"/>
            <a:ext cx="518807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050"/>
              </a:spcAft>
              <a:buNone/>
            </a:pPr>
            <a:r>
              <a:rPr lang="en-US" sz="36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Best Practices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85750" y="1713607"/>
            <a:ext cx="8572500" cy="748457"/>
          </a:xfrm>
          <a:prstGeom prst="roundRect">
            <a:avLst>
              <a:gd name="adj" fmla="val 5090"/>
            </a:avLst>
          </a:prstGeom>
          <a:solidFill>
            <a:srgbClr val="DC35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19100" y="1885057"/>
            <a:ext cx="847191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Commit Secrets to Git!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9100" y="2155478"/>
            <a:ext cx="847191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number one security mistake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285750" y="2747814"/>
            <a:ext cx="2654350" cy="750540"/>
          </a:xfrm>
          <a:prstGeom prst="roundRect">
            <a:avLst>
              <a:gd name="adj" fmla="val 5076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04800" y="2747814"/>
            <a:ext cx="0" cy="75054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150" y="2900214"/>
            <a:ext cx="24354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Key Vault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38150" y="3224064"/>
            <a:ext cx="243540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secrets centrally and securely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44900" y="2747814"/>
            <a:ext cx="2654350" cy="750540"/>
          </a:xfrm>
          <a:prstGeom prst="roundRect">
            <a:avLst>
              <a:gd name="adj" fmla="val 5076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263950" y="2747814"/>
            <a:ext cx="0" cy="75054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97300" y="2900214"/>
            <a:ext cx="24354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Variables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97300" y="3224064"/>
            <a:ext cx="243540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CI/CD and local development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204049" y="2747814"/>
            <a:ext cx="2654350" cy="750540"/>
          </a:xfrm>
          <a:prstGeom prst="roundRect">
            <a:avLst>
              <a:gd name="adj" fmla="val 5076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223099" y="2747814"/>
            <a:ext cx="0" cy="75054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6449" y="2900214"/>
            <a:ext cx="24354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 Variables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56449" y="3224064"/>
            <a:ext cx="243540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as sensitive in configuration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85750" y="3784104"/>
            <a:ext cx="8572500" cy="388590"/>
          </a:xfrm>
          <a:prstGeom prst="roundRect">
            <a:avLst>
              <a:gd name="adj" fmla="val 9805"/>
            </a:avLst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04800" y="3784104"/>
            <a:ext cx="0" cy="388590"/>
          </a:xfrm>
          <a:prstGeom prst="line">
            <a:avLst/>
          </a:prstGeom>
          <a:noFill/>
          <a:ln w="38100">
            <a:solidFill>
              <a:srgbClr val="FFC10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9100" y="3917454"/>
            <a:ext cx="851077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Service Principal with least privilege. Enable state encryption. Rotate secrets regularly.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567630"/>
            <a:ext cx="6771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Errors and Solutions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85750" y="1329630"/>
            <a:ext cx="4238625" cy="800100"/>
          </a:xfrm>
          <a:prstGeom prst="roundRect">
            <a:avLst>
              <a:gd name="adj" fmla="val 4762"/>
            </a:avLst>
          </a:prstGeom>
          <a:solidFill>
            <a:srgbClr val="F8D7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04800" y="1329630"/>
            <a:ext cx="0" cy="800100"/>
          </a:xfrm>
          <a:prstGeom prst="line">
            <a:avLst/>
          </a:prstGeom>
          <a:noFill/>
          <a:ln w="38100">
            <a:solidFill>
              <a:srgbClr val="DC3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9100" y="1462980"/>
            <a:ext cx="40902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Lock Error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9100" y="1767780"/>
            <a:ext cx="40902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</a:t>
            </a:r>
            <a:pPr algn="l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Wait or terraform force-unlock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619625" y="1329630"/>
            <a:ext cx="4238625" cy="800100"/>
          </a:xfrm>
          <a:prstGeom prst="roundRect">
            <a:avLst>
              <a:gd name="adj" fmla="val 4762"/>
            </a:avLst>
          </a:prstGeom>
          <a:solidFill>
            <a:srgbClr val="F8D7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638675" y="1329630"/>
            <a:ext cx="0" cy="800100"/>
          </a:xfrm>
          <a:prstGeom prst="line">
            <a:avLst/>
          </a:prstGeom>
          <a:noFill/>
          <a:ln w="38100">
            <a:solidFill>
              <a:srgbClr val="DC3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2975" y="1462980"/>
            <a:ext cx="40902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Version Conflict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52975" y="1767780"/>
            <a:ext cx="40902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</a:t>
            </a:r>
            <a:pPr algn="l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Pin versions with ~&gt; operator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85750" y="2224980"/>
            <a:ext cx="4238625" cy="800100"/>
          </a:xfrm>
          <a:prstGeom prst="roundRect">
            <a:avLst>
              <a:gd name="adj" fmla="val 4762"/>
            </a:avLst>
          </a:prstGeom>
          <a:solidFill>
            <a:srgbClr val="F8D7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04800" y="2224980"/>
            <a:ext cx="0" cy="800100"/>
          </a:xfrm>
          <a:prstGeom prst="line">
            <a:avLst/>
          </a:prstGeom>
          <a:noFill/>
          <a:ln w="38100">
            <a:solidFill>
              <a:srgbClr val="DC3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9100" y="2358330"/>
            <a:ext cx="40902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Failed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9100" y="2663130"/>
            <a:ext cx="40902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</a:t>
            </a:r>
            <a:pPr algn="l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az login or verify credentials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19625" y="2224980"/>
            <a:ext cx="4238625" cy="800100"/>
          </a:xfrm>
          <a:prstGeom prst="roundRect">
            <a:avLst>
              <a:gd name="adj" fmla="val 4762"/>
            </a:avLst>
          </a:prstGeom>
          <a:solidFill>
            <a:srgbClr val="F8D7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38675" y="2224980"/>
            <a:ext cx="0" cy="800100"/>
          </a:xfrm>
          <a:prstGeom prst="line">
            <a:avLst/>
          </a:prstGeom>
          <a:noFill/>
          <a:ln w="38100">
            <a:solidFill>
              <a:srgbClr val="DC35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2975" y="2358330"/>
            <a:ext cx="40902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Already Exists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52975" y="2663130"/>
            <a:ext cx="40902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</a:t>
            </a:r>
            <a:pPr algn="l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terraform import to add to state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85750" y="3120330"/>
            <a:ext cx="4238625" cy="800100"/>
          </a:xfrm>
          <a:prstGeom prst="roundRect">
            <a:avLst>
              <a:gd name="adj" fmla="val 4762"/>
            </a:avLst>
          </a:prstGeom>
          <a:solidFill>
            <a:srgbClr val="F8D7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304800" y="3120330"/>
            <a:ext cx="0" cy="800100"/>
          </a:xfrm>
          <a:prstGeom prst="line">
            <a:avLst/>
          </a:prstGeom>
          <a:noFill/>
          <a:ln w="38100">
            <a:solidFill>
              <a:srgbClr val="DC35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9100" y="3253680"/>
            <a:ext cx="40902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Drift Detected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19100" y="3558480"/>
            <a:ext cx="40902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</a:t>
            </a:r>
            <a:pPr algn="l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terraform refresh or reapply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19625" y="3120330"/>
            <a:ext cx="4238625" cy="800100"/>
          </a:xfrm>
          <a:prstGeom prst="roundRect">
            <a:avLst>
              <a:gd name="adj" fmla="val 4762"/>
            </a:avLst>
          </a:prstGeom>
          <a:solidFill>
            <a:srgbClr val="F8D7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638675" y="3120330"/>
            <a:ext cx="0" cy="800100"/>
          </a:xfrm>
          <a:prstGeom prst="line">
            <a:avLst/>
          </a:prstGeom>
          <a:noFill/>
          <a:ln w="38100">
            <a:solidFill>
              <a:srgbClr val="DC35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2975" y="3253680"/>
            <a:ext cx="40902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Syntax Error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752975" y="3558480"/>
            <a:ext cx="40902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</a:t>
            </a:r>
            <a:pPr algn="l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terraform validate to identify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285750" y="4187130"/>
            <a:ext cx="8572500" cy="388590"/>
          </a:xfrm>
          <a:prstGeom prst="roundRect">
            <a:avLst>
              <a:gd name="adj" fmla="val 9805"/>
            </a:avLst>
          </a:prstGeom>
          <a:solidFill>
            <a:srgbClr val="D1EC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304800" y="4187130"/>
            <a:ext cx="0" cy="38859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9100" y="4320480"/>
            <a:ext cx="851077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debug logging: TF_LOG=DEBUG terraform apply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078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99946" y="650825"/>
            <a:ext cx="37439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spcAft>
                <a:spcPts val="1500"/>
              </a:spcAft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3230957" y="1679525"/>
            <a:ext cx="268208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Aft>
                <a:spcPts val="225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066604" y="2422475"/>
            <a:ext cx="3010793" cy="2070199"/>
          </a:xfrm>
          <a:prstGeom prst="roundRect">
            <a:avLst>
              <a:gd name="adj" fmla="val 3681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230806" y="2651075"/>
            <a:ext cx="26823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Takeaways: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3230806" y="2965400"/>
            <a:ext cx="2682389" cy="1336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5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Terraform enables Infrastructure as Code</a:t>
            </a:r>
            <a:endParaRPr lang="en-US" sz="975" dirty="0"/>
          </a:p>
          <a:p>
            <a:pPr algn="ctr" indent="0" marL="0">
              <a:lnSpc>
                <a:spcPts val="175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✓ Communicates with Azure via REST API</a:t>
            </a:r>
            <a:endParaRPr lang="en-US" sz="975" dirty="0"/>
          </a:p>
          <a:p>
            <a:pPr algn="ctr" indent="0" marL="0">
              <a:lnSpc>
                <a:spcPts val="175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✓ State management is critical</a:t>
            </a:r>
            <a:endParaRPr lang="en-US" sz="975" dirty="0"/>
          </a:p>
          <a:p>
            <a:pPr algn="ctr" indent="0" marL="0">
              <a:lnSpc>
                <a:spcPts val="175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✓ Security first - never commit secrets</a:t>
            </a:r>
            <a:endParaRPr lang="en-US" sz="975" dirty="0"/>
          </a:p>
          <a:p>
            <a:pPr algn="ctr" indent="0" marL="0">
              <a:lnSpc>
                <a:spcPts val="175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✓ Always plan before apply</a:t>
            </a:r>
            <a:endParaRPr lang="en-US" sz="975" dirty="0"/>
          </a:p>
          <a:p>
            <a:pPr algn="ctr" indent="0" marL="0">
              <a:lnSpc>
                <a:spcPts val="175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✓ Treat infrastructure code like application code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Terraform - Infrastructure as Code for Azure</dc:title>
  <dc:subject>Complete Terraform Guide: Architecture, Implementation &amp; Best Practices</dc:subject>
  <dc:creator>Terraform Training</dc:creator>
  <cp:lastModifiedBy>Terraform Training</cp:lastModifiedBy>
  <cp:revision>1</cp:revision>
  <dcterms:created xsi:type="dcterms:W3CDTF">2025-11-24T02:03:40Z</dcterms:created>
  <dcterms:modified xsi:type="dcterms:W3CDTF">2025-11-24T02:03:40Z</dcterms:modified>
</cp:coreProperties>
</file>