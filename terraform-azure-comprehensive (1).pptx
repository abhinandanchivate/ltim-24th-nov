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3774" y="1021110"/>
            <a:ext cx="43364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15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342294" y="2278410"/>
            <a:ext cx="4459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for Azure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128337" y="2926110"/>
            <a:ext cx="288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Guide to Cloud Automation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984897" y="3630960"/>
            <a:ext cx="3174206" cy="491430"/>
          </a:xfrm>
          <a:prstGeom prst="roundRect">
            <a:avLst>
              <a:gd name="adj" fmla="val 1162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86327" y="3802410"/>
            <a:ext cx="27713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• Implementation • Best Practices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58267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Terraform?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458367"/>
            <a:ext cx="8572500" cy="845641"/>
          </a:xfrm>
          <a:prstGeom prst="roundRect">
            <a:avLst>
              <a:gd name="adj" fmla="val 4505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50" y="1648867"/>
            <a:ext cx="843305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(IaC) Tool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38150" y="1964978"/>
            <a:ext cx="84330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and manage infrastructure using declarative configuration files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5750" y="2608808"/>
            <a:ext cx="2755850" cy="788640"/>
          </a:xfrm>
          <a:prstGeom prst="roundRect">
            <a:avLst>
              <a:gd name="adj" fmla="val 48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4800" y="2608808"/>
            <a:ext cx="0" cy="7886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0258"/>
            <a:ext cx="2500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104108"/>
            <a:ext cx="2500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HashiCorp, free to use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94000" y="2608808"/>
            <a:ext cx="2755850" cy="788640"/>
          </a:xfrm>
          <a:prstGeom prst="roundRect">
            <a:avLst>
              <a:gd name="adj" fmla="val 48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13050" y="2608808"/>
            <a:ext cx="0" cy="78864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5450" y="2780258"/>
            <a:ext cx="2500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65450" y="3104108"/>
            <a:ext cx="2500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Azure, AWS, GCP, 3000+ providers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02251" y="2608808"/>
            <a:ext cx="2755850" cy="788640"/>
          </a:xfrm>
          <a:prstGeom prst="roundRect">
            <a:avLst>
              <a:gd name="adj" fmla="val 48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21301" y="2608808"/>
            <a:ext cx="0" cy="7886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3701" y="2780258"/>
            <a:ext cx="2500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73701" y="3104108"/>
            <a:ext cx="2500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you want, not how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5750" y="3683198"/>
            <a:ext cx="8572500" cy="801886"/>
          </a:xfrm>
          <a:prstGeom prst="roundRect">
            <a:avLst>
              <a:gd name="adj" fmla="val 475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04800" y="3683198"/>
            <a:ext cx="0" cy="80188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54648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- HashiCorp Configuration Language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178498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Human-readable syntax, easy to learn and write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22902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Terraform?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2010073"/>
            <a:ext cx="4133850" cy="1732955"/>
          </a:xfrm>
          <a:prstGeom prst="roundRect">
            <a:avLst>
              <a:gd name="adj" fmla="val 2199"/>
            </a:avLst>
          </a:prstGeom>
          <a:solidFill>
            <a:srgbClr val="FF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2010073"/>
            <a:ext cx="0" cy="1732955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6250" y="2200573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Way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76250" y="2495848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 into Azure Portal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76250" y="2726234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Click through many screens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76250" y="2956620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Configure each setting manually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6250" y="3187005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Repeat for each environment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6250" y="3417391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Hours - Error-prone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24400" y="2010073"/>
            <a:ext cx="4133850" cy="1732955"/>
          </a:xfrm>
          <a:prstGeom prst="roundRect">
            <a:avLst>
              <a:gd name="adj" fmla="val 2199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43450" y="2010073"/>
            <a:ext cx="0" cy="1732955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4900" y="2200573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Way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914900" y="2495848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Write configuration once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914900" y="2726234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Store in version control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14900" y="2956620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Run: terraform apply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914900" y="3187005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Reuse across environments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914900" y="3417391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Minutes - Reliable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53380"/>
            <a:ext cx="6480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Terraform-Azure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615380"/>
            <a:ext cx="8572500" cy="533400"/>
          </a:xfrm>
          <a:prstGeom prst="roundRect">
            <a:avLst>
              <a:gd name="adj" fmla="val 7143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6611" y="1767780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Terraform Connects to Azure Internally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5750" y="2434530"/>
            <a:ext cx="1905000" cy="53340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2434530"/>
            <a:ext cx="0" cy="5334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767" y="2586930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.tf Files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258127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52700" y="2434530"/>
            <a:ext cx="1905000" cy="533400"/>
          </a:xfrm>
          <a:prstGeom prst="roundRect">
            <a:avLst>
              <a:gd name="adj" fmla="val 714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71750" y="2434530"/>
            <a:ext cx="0" cy="5334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717" y="2586930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Core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2950" y="258127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19650" y="2434530"/>
            <a:ext cx="1905000" cy="533400"/>
          </a:xfrm>
          <a:prstGeom prst="roundRect">
            <a:avLst>
              <a:gd name="adj" fmla="val 714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38700" y="2434530"/>
            <a:ext cx="0" cy="53340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5667" y="2586930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Provider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5750" y="3082230"/>
            <a:ext cx="1905000" cy="533400"/>
          </a:xfrm>
          <a:prstGeom prst="roundRect">
            <a:avLst>
              <a:gd name="adj" fmla="val 7143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04800" y="3082230"/>
            <a:ext cx="0" cy="53340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767" y="3234630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Resources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86000" y="322897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552700" y="3082230"/>
            <a:ext cx="1905000" cy="533400"/>
          </a:xfrm>
          <a:prstGeom prst="roundRect">
            <a:avLst>
              <a:gd name="adj" fmla="val 7143"/>
            </a:avLst>
          </a:prstGeom>
          <a:solidFill>
            <a:srgbClr val="D1EC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571750" y="3082230"/>
            <a:ext cx="0" cy="5334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8717" y="3234630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REST API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52950" y="322897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19650" y="3082230"/>
            <a:ext cx="1905000" cy="533400"/>
          </a:xfrm>
          <a:prstGeom prst="roundRect">
            <a:avLst>
              <a:gd name="adj" fmla="val 714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838700" y="3082230"/>
            <a:ext cx="0" cy="5334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5667" y="3234630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85750" y="3901380"/>
            <a:ext cx="8572500" cy="388590"/>
          </a:xfrm>
          <a:prstGeom prst="roundRect">
            <a:avLst>
              <a:gd name="adj" fmla="val 9805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04800" y="3901380"/>
            <a:ext cx="0" cy="38859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9100" y="4034730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sends commands to Provider, Provider makes HTTPS calls to Azure ARM API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02047"/>
            <a:ext cx="57321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Components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664047"/>
            <a:ext cx="4229100" cy="948630"/>
          </a:xfrm>
          <a:prstGeom prst="roundRect">
            <a:avLst>
              <a:gd name="adj" fmla="val 401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664047"/>
            <a:ext cx="0" cy="94863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35497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CLI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59347"/>
            <a:ext cx="40027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Command-line tool you use. Reads configuration files and executes commands.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29150" y="1664047"/>
            <a:ext cx="4229100" cy="948630"/>
          </a:xfrm>
          <a:prstGeom prst="roundRect">
            <a:avLst>
              <a:gd name="adj" fmla="val 401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48200" y="1664047"/>
            <a:ext cx="0" cy="94863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835497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Core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2159347"/>
            <a:ext cx="40027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that parses HCL, builds dependency graphs, manages execution order.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2726978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04800" y="2726978"/>
            <a:ext cx="0" cy="78864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98428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Plugins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222278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provider translates Terraform calls to Azure ARM API calls via HTTPS.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9150" y="2726978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8200" y="2726978"/>
            <a:ext cx="0" cy="78864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898428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Backend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3222278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terraform.tfstate tracking real infrastructure mapping to configuration.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5750" y="3801368"/>
            <a:ext cx="8572500" cy="439936"/>
          </a:xfrm>
          <a:prstGeom prst="roundRect">
            <a:avLst>
              <a:gd name="adj" fmla="val 866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050" y="3953768"/>
            <a:ext cx="8510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 CLI to Core to Provider to Azure ARM API to Azure Services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71475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133475"/>
            <a:ext cx="8572500" cy="533400"/>
          </a:xfrm>
          <a:prstGeom prst="roundRect">
            <a:avLst>
              <a:gd name="adj" fmla="val 714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133475"/>
            <a:ext cx="0" cy="5334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150" y="128587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run: terraform apply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5750" y="1933575"/>
            <a:ext cx="8572500" cy="2838450"/>
          </a:xfrm>
          <a:prstGeom prst="roundRect">
            <a:avLst>
              <a:gd name="adj" fmla="val 134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210502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 reads main.tf and state file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9100" y="242887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Builds dependency graph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9100" y="275272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Provider receives create request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9100" y="307657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Provider authenticates with Azure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9100" y="340042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Sends HTTPS POST to Azure management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9100" y="372427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validates and creates resource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9100" y="404812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returns resource ID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9100" y="437197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Terraform updates state file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93415"/>
            <a:ext cx="56155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Terraform Concepts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655415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655415"/>
            <a:ext cx="0" cy="7886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6865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5071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enabling Terraform to interact with cloud platforms and APIs.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29150" y="1655415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48200" y="1655415"/>
            <a:ext cx="0" cy="78864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826865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215071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objects: VMs, networks, storage, databases to manage.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2558355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04800" y="2558355"/>
            <a:ext cx="0" cy="7886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29805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05365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file tracking infrastructure. Maps real resources to configuration.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9150" y="2558355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8200" y="2558355"/>
            <a:ext cx="0" cy="78864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729805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305365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packages of configurations. Like functions in programming.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5750" y="3461296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04800" y="3461296"/>
            <a:ext cx="0" cy="7886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32746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3956596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parameters making configs flexible across environments.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29150" y="3461296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48200" y="3461296"/>
            <a:ext cx="0" cy="78864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632746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00600" y="3956596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exported after apply. Share data between modules.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176338"/>
            <a:ext cx="4391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23938" y="1938337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03270" y="213836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4319" y="2719388"/>
            <a:ext cx="2185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4319" y="3043238"/>
            <a:ext cx="21859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and download providers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67063" y="1938337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46395" y="213836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07444" y="2719388"/>
            <a:ext cx="2185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07444" y="3043238"/>
            <a:ext cx="21859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configuration syntax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10188" y="1938337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89520" y="213836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0569" y="2719388"/>
            <a:ext cx="2185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50569" y="3043238"/>
            <a:ext cx="21859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what will change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53312" y="1938337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32645" y="213836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93694" y="2719388"/>
            <a:ext cx="2185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93694" y="3043238"/>
            <a:ext cx="21859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and create resources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5750" y="3527078"/>
            <a:ext cx="8572500" cy="439936"/>
          </a:xfrm>
          <a:prstGeom prst="roundRect">
            <a:avLst>
              <a:gd name="adj" fmla="val 866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050" y="3679478"/>
            <a:ext cx="8510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Tear down infrastructure when no longer needed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45009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326059"/>
            <a:ext cx="8572500" cy="839986"/>
          </a:xfrm>
          <a:prstGeom prst="roundRect">
            <a:avLst>
              <a:gd name="adj" fmla="val 453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326059"/>
            <a:ext cx="0" cy="83998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6250" y="1516559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Install Terraform CLI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" y="1840409"/>
            <a:ext cx="8394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from terraform.io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85750" y="2451795"/>
            <a:ext cx="8572500" cy="839986"/>
          </a:xfrm>
          <a:prstGeom prst="roundRect">
            <a:avLst>
              <a:gd name="adj" fmla="val 453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2451795"/>
            <a:ext cx="0" cy="83998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50" y="264229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Azure Subscription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6250" y="2966145"/>
            <a:ext cx="8394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account with permissions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85750" y="3577530"/>
            <a:ext cx="8572500" cy="839986"/>
          </a:xfrm>
          <a:prstGeom prst="roundRect">
            <a:avLst>
              <a:gd name="adj" fmla="val 453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04800" y="3577530"/>
            <a:ext cx="0" cy="83998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250" y="376803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Install Azure CLI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250" y="4091880"/>
            <a:ext cx="8394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with: az login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48568"/>
            <a:ext cx="65093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Provider Configuration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229618"/>
            <a:ext cx="8572500" cy="2720727"/>
          </a:xfrm>
          <a:prstGeom prst="roundRect">
            <a:avLst>
              <a:gd name="adj" fmla="val 14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229618"/>
            <a:ext cx="0" cy="272072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5750" y="4255145"/>
            <a:ext cx="8572500" cy="439936"/>
          </a:xfrm>
          <a:prstGeom prst="roundRect">
            <a:avLst>
              <a:gd name="adj" fmla="val 866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4255145"/>
            <a:ext cx="0" cy="439936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150" y="4407545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~&gt; 3.0 means: greater than 3.0, less than 4.0. Features block is required.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226939"/>
            <a:ext cx="53143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Methods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2007989"/>
            <a:ext cx="2768501" cy="1163687"/>
          </a:xfrm>
          <a:prstGeom prst="roundRect">
            <a:avLst>
              <a:gd name="adj" fmla="val 327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2007989"/>
            <a:ext cx="0" cy="116368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79439"/>
            <a:ext cx="251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CLI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522339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 development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57200" y="2707035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 login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57200" y="2891730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and interactive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187601" y="2007989"/>
            <a:ext cx="2768650" cy="1163687"/>
          </a:xfrm>
          <a:prstGeom prst="roundRect">
            <a:avLst>
              <a:gd name="adj" fmla="val 327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06651" y="2007989"/>
            <a:ext cx="0" cy="1163687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9051" y="2179439"/>
            <a:ext cx="2513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Principal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59051" y="2522339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CI/CD pipelines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359051" y="2707035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 registration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359051" y="2891730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Non-interactive, auditable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089600" y="2007989"/>
            <a:ext cx="2768501" cy="1163687"/>
          </a:xfrm>
          <a:prstGeom prst="roundRect">
            <a:avLst>
              <a:gd name="adj" fmla="val 327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08650" y="2007989"/>
            <a:ext cx="0" cy="116368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1050" y="2179439"/>
            <a:ext cx="251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Identity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1050" y="2522339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VMs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261050" y="2707035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 on VM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261050" y="2891730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credentials, most secure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85750" y="3476476"/>
            <a:ext cx="8572500" cy="439936"/>
          </a:xfrm>
          <a:prstGeom prst="roundRect">
            <a:avLst>
              <a:gd name="adj" fmla="val 8660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04800" y="3476476"/>
            <a:ext cx="0" cy="439936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150" y="3628876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commit credentials to Git! Use environment variables or Key Vault.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082278"/>
            <a:ext cx="59458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Azure Resources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863328"/>
            <a:ext cx="2793950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0038" y="1863328"/>
            <a:ext cx="0" cy="624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8625" y="2015728"/>
            <a:ext cx="25875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28625" y="2227064"/>
            <a:ext cx="25875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azurerm_resource_group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174950" y="1863328"/>
            <a:ext cx="2793950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189238" y="1863328"/>
            <a:ext cx="0" cy="624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7825" y="2015728"/>
            <a:ext cx="25875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317825" y="2227064"/>
            <a:ext cx="25875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azurerm_virtual_network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064151" y="1863328"/>
            <a:ext cx="2794099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78438" y="1863328"/>
            <a:ext cx="0" cy="624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7026" y="2015728"/>
            <a:ext cx="25876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207026" y="2227064"/>
            <a:ext cx="25876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azurerm_subnet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85750" y="2583210"/>
            <a:ext cx="2793950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00038" y="2583210"/>
            <a:ext cx="0" cy="624632"/>
          </a:xfrm>
          <a:prstGeom prst="line">
            <a:avLst/>
          </a:prstGeom>
          <a:noFill/>
          <a:ln w="28575">
            <a:solidFill>
              <a:srgbClr val="00B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625" y="2735610"/>
            <a:ext cx="25875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28625" y="2946946"/>
            <a:ext cx="25875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azurerm_linux_virtual_machine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174950" y="2583210"/>
            <a:ext cx="2793950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189238" y="2583210"/>
            <a:ext cx="0" cy="624632"/>
          </a:xfrm>
          <a:prstGeom prst="line">
            <a:avLst/>
          </a:prstGeom>
          <a:noFill/>
          <a:ln w="28575">
            <a:solidFill>
              <a:srgbClr val="00BC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7825" y="2735610"/>
            <a:ext cx="25875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3317825" y="2946946"/>
            <a:ext cx="25875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azurerm_storage_account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064151" y="2583210"/>
            <a:ext cx="2794099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78438" y="2583210"/>
            <a:ext cx="0" cy="624632"/>
          </a:xfrm>
          <a:prstGeom prst="line">
            <a:avLst/>
          </a:prstGeom>
          <a:noFill/>
          <a:ln w="28575">
            <a:solidFill>
              <a:srgbClr val="00B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7026" y="2735610"/>
            <a:ext cx="25876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Databases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207026" y="2946946"/>
            <a:ext cx="25876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azurerm_mssql_database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85750" y="3303091"/>
            <a:ext cx="2793950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00038" y="3303091"/>
            <a:ext cx="0" cy="624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8625" y="3455491"/>
            <a:ext cx="25875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Clusters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28625" y="3666827"/>
            <a:ext cx="25875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azurerm_kubernetes_cluster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174950" y="3303091"/>
            <a:ext cx="2793950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189238" y="3303091"/>
            <a:ext cx="0" cy="624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7825" y="3455491"/>
            <a:ext cx="25875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Services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3317825" y="3666827"/>
            <a:ext cx="25875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azurerm_linux_web_app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6064151" y="3303091"/>
            <a:ext cx="2794099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078438" y="3303091"/>
            <a:ext cx="0" cy="624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07026" y="3455491"/>
            <a:ext cx="25876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Balancers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6207026" y="3666827"/>
            <a:ext cx="25876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azurerm_lb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94246"/>
            <a:ext cx="6227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Code: Resource Group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156246"/>
            <a:ext cx="8572500" cy="2867323"/>
          </a:xfrm>
          <a:prstGeom prst="roundRect">
            <a:avLst>
              <a:gd name="adj" fmla="val 13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156246"/>
            <a:ext cx="0" cy="2867323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5750" y="4309318"/>
            <a:ext cx="8572500" cy="439936"/>
          </a:xfrm>
          <a:prstGeom prst="roundRect">
            <a:avLst>
              <a:gd name="adj" fmla="val 866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4309318"/>
            <a:ext cx="0" cy="43993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150" y="4461718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help organize resources and track costs. Outputs export values for other modules.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748605"/>
            <a:ext cx="5984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Code: Virtual Network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510605"/>
            <a:ext cx="8572500" cy="2228850"/>
          </a:xfrm>
          <a:prstGeom prst="roundRect">
            <a:avLst>
              <a:gd name="adj" fmla="val 170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510605"/>
            <a:ext cx="0" cy="222885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5750" y="4006155"/>
            <a:ext cx="8572500" cy="388590"/>
          </a:xfrm>
          <a:prstGeom prst="roundRect">
            <a:avLst>
              <a:gd name="adj" fmla="val 9805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4006155"/>
            <a:ext cx="0" cy="38859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9100" y="4139505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 depends on VNet, VNet depends on Resource Group. Terraform handles creation order automatically.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34938"/>
            <a:ext cx="4925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and Outputs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696938"/>
            <a:ext cx="4210050" cy="325636"/>
          </a:xfrm>
          <a:prstGeom prst="roundRect">
            <a:avLst>
              <a:gd name="adj" fmla="val 1170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1950" y="1773138"/>
            <a:ext cx="4138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variables.tf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85750" y="2098774"/>
            <a:ext cx="4210050" cy="2109788"/>
          </a:xfrm>
          <a:prstGeom prst="roundRect">
            <a:avLst>
              <a:gd name="adj" fmla="val 18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2098774"/>
            <a:ext cx="0" cy="2109788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8200" y="1816894"/>
            <a:ext cx="4210050" cy="325636"/>
          </a:xfrm>
          <a:prstGeom prst="roundRect">
            <a:avLst>
              <a:gd name="adj" fmla="val 11700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24400" y="1893094"/>
            <a:ext cx="4138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outputs.tf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648200" y="2218730"/>
            <a:ext cx="4210050" cy="1869877"/>
          </a:xfrm>
          <a:prstGeom prst="roundRect">
            <a:avLst>
              <a:gd name="adj" fmla="val 20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7250" y="2218730"/>
            <a:ext cx="0" cy="186987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43954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205954"/>
            <a:ext cx="8572500" cy="750540"/>
          </a:xfrm>
          <a:prstGeom prst="roundRect">
            <a:avLst>
              <a:gd name="adj" fmla="val 507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205954"/>
            <a:ext cx="0" cy="7505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150" y="1358354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Existing Infrastructure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150" y="1682204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references to resources not managed by current configuration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2223195"/>
            <a:ext cx="8572500" cy="2362200"/>
          </a:xfrm>
          <a:prstGeom prst="roundRect">
            <a:avLst>
              <a:gd name="adj" fmla="val 161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2223195"/>
            <a:ext cx="0" cy="23622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75420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737420"/>
            <a:ext cx="8572500" cy="750540"/>
          </a:xfrm>
          <a:prstGeom prst="roundRect">
            <a:avLst>
              <a:gd name="adj" fmla="val 5076"/>
            </a:avLst>
          </a:prstGeom>
          <a:solidFill>
            <a:srgbClr val="DC3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889820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is Critical!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00050" y="2213670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needs state to know what infrastructure exists and what needs to change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5750" y="2754660"/>
            <a:ext cx="4210050" cy="758130"/>
          </a:xfrm>
          <a:prstGeom prst="roundRect">
            <a:avLst>
              <a:gd name="adj" fmla="val 502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290706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State Contains: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0050" y="3230910"/>
            <a:ext cx="4061079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IDs and attributes, Dependencies, Provider metadata, Sensitive values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48200" y="2754660"/>
            <a:ext cx="4210050" cy="758130"/>
          </a:xfrm>
          <a:prstGeom prst="roundRect">
            <a:avLst>
              <a:gd name="adj" fmla="val 502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0" y="290706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State Enables: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62500" y="3230910"/>
            <a:ext cx="4061079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mapping, Performance optimization, Team collaboration, Drift detection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85750" y="3779490"/>
            <a:ext cx="8572500" cy="388590"/>
          </a:xfrm>
          <a:prstGeom prst="roundRect">
            <a:avLst>
              <a:gd name="adj" fmla="val 9805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04800" y="3779490"/>
            <a:ext cx="0" cy="38859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100" y="3912840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Warning:</a:t>
            </a:r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 files contain sensitive data. Protect like production credentials.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23032"/>
            <a:ext cx="6800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State in Azure Storage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685032"/>
            <a:ext cx="8572500" cy="1695450"/>
          </a:xfrm>
          <a:prstGeom prst="roundRect">
            <a:avLst>
              <a:gd name="adj" fmla="val 224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685032"/>
            <a:ext cx="0" cy="169545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5750" y="3647182"/>
            <a:ext cx="4210050" cy="573286"/>
          </a:xfrm>
          <a:prstGeom prst="roundRect">
            <a:avLst>
              <a:gd name="adj" fmla="val 6646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3647182"/>
            <a:ext cx="0" cy="573286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9100" y="3780532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9100" y="3978622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collaboration, State locking, Encrypted at rest, Versioning, RBAC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48200" y="3647182"/>
            <a:ext cx="4210050" cy="573286"/>
          </a:xfrm>
          <a:prstGeom prst="roundRect">
            <a:avLst>
              <a:gd name="adj" fmla="val 6646"/>
            </a:avLst>
          </a:prstGeom>
          <a:solidFill>
            <a:srgbClr val="D1EC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7250" y="3647182"/>
            <a:ext cx="0" cy="57328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1550" y="3780532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81550" y="3978622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storage account, Create container, Enable versioning, Configure backend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73485"/>
            <a:ext cx="78792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and Resource Graph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735485"/>
            <a:ext cx="4210050" cy="325636"/>
          </a:xfrm>
          <a:prstGeom prst="roundRect">
            <a:avLst>
              <a:gd name="adj" fmla="val 1170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1950" y="1811685"/>
            <a:ext cx="4138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Dependencies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85750" y="2137321"/>
            <a:ext cx="4210050" cy="1390650"/>
          </a:xfrm>
          <a:prstGeom prst="roundRect">
            <a:avLst>
              <a:gd name="adj" fmla="val 274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2137321"/>
            <a:ext cx="0" cy="139065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8200" y="1802160"/>
            <a:ext cx="4210050" cy="325636"/>
          </a:xfrm>
          <a:prstGeom prst="roundRect">
            <a:avLst>
              <a:gd name="adj" fmla="val 11700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24400" y="1878360"/>
            <a:ext cx="4138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Dependencies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648200" y="2203996"/>
            <a:ext cx="4210050" cy="1257300"/>
          </a:xfrm>
          <a:prstGeom prst="roundRect">
            <a:avLst>
              <a:gd name="adj" fmla="val 303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7250" y="2203996"/>
            <a:ext cx="0" cy="12573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750" y="3794671"/>
            <a:ext cx="8572500" cy="375196"/>
          </a:xfrm>
          <a:prstGeom prst="roundRect">
            <a:avLst>
              <a:gd name="adj" fmla="val 10155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04800" y="3794671"/>
            <a:ext cx="0" cy="375196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9100" y="3928021"/>
            <a:ext cx="85107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terraform graph to visualize dependencies between resources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47874"/>
            <a:ext cx="4556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Terraform?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609874"/>
            <a:ext cx="2781300" cy="1219051"/>
          </a:xfrm>
          <a:prstGeom prst="roundRect">
            <a:avLst>
              <a:gd name="adj" fmla="val 3125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781324"/>
            <a:ext cx="25648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9100" y="2211735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9100" y="2535585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all changes in Git with full audit trail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81350" y="1609874"/>
            <a:ext cx="2781300" cy="1219051"/>
          </a:xfrm>
          <a:prstGeom prst="roundRect">
            <a:avLst>
              <a:gd name="adj" fmla="val 3125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14700" y="1781324"/>
            <a:ext cx="25648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314700" y="2211735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14700" y="2535585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environments every time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76950" y="1609874"/>
            <a:ext cx="2781300" cy="1219051"/>
          </a:xfrm>
          <a:prstGeom prst="roundRect">
            <a:avLst>
              <a:gd name="adj" fmla="val 3125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0300" y="1781324"/>
            <a:ext cx="25648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210300" y="2211735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0300" y="2535585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instead of hours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750" y="2943225"/>
            <a:ext cx="2781300" cy="1219051"/>
          </a:xfrm>
          <a:prstGeom prst="roundRect">
            <a:avLst>
              <a:gd name="adj" fmla="val 3125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9100" y="3114675"/>
            <a:ext cx="25648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19100" y="3545086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9100" y="3868936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infrastructure instantly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81350" y="2943225"/>
            <a:ext cx="2781300" cy="1219051"/>
          </a:xfrm>
          <a:prstGeom prst="roundRect">
            <a:avLst>
              <a:gd name="adj" fmla="val 3125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14700" y="3114675"/>
            <a:ext cx="25648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314700" y="3545086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Control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14700" y="3868936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environment spin up/down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76950" y="2943225"/>
            <a:ext cx="2781300" cy="1219051"/>
          </a:xfrm>
          <a:prstGeom prst="roundRect">
            <a:avLst>
              <a:gd name="adj" fmla="val 3125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10300" y="3114675"/>
            <a:ext cx="25648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210300" y="3545086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0300" y="3868936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 for all clouds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053405"/>
            <a:ext cx="53921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vs ARM/Bicep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815405"/>
            <a:ext cx="2793950" cy="419100"/>
          </a:xfrm>
          <a:prstGeom prst="roundRect">
            <a:avLst>
              <a:gd name="adj" fmla="val 9091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5534" y="1891605"/>
            <a:ext cx="2694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74950" y="1815405"/>
            <a:ext cx="2793950" cy="419100"/>
          </a:xfrm>
          <a:prstGeom prst="roundRect">
            <a:avLst>
              <a:gd name="adj" fmla="val 9091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24735" y="1891605"/>
            <a:ext cx="2694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Templates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64151" y="1815405"/>
            <a:ext cx="2794099" cy="419100"/>
          </a:xfrm>
          <a:prstGeom prst="roundRect">
            <a:avLst>
              <a:gd name="adj" fmla="val 9091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13934" y="1891605"/>
            <a:ext cx="26945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Bicep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5750" y="2329755"/>
            <a:ext cx="2793950" cy="11049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1000" y="2453580"/>
            <a:ext cx="2655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Multi-cloud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2748855"/>
            <a:ext cx="2655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HCL (clean)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1000" y="3044130"/>
            <a:ext cx="2655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Explicit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74950" y="2329755"/>
            <a:ext cx="2793950" cy="11049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70200" y="2453580"/>
            <a:ext cx="2655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only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70200" y="2748855"/>
            <a:ext cx="2655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JSON (verbose)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70200" y="3044130"/>
            <a:ext cx="2655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managed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64151" y="2329755"/>
            <a:ext cx="2794099" cy="11049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59401" y="2453580"/>
            <a:ext cx="26556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only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59401" y="2748855"/>
            <a:ext cx="26556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DSL (clean)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59401" y="3044130"/>
            <a:ext cx="26556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managed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85750" y="3701355"/>
            <a:ext cx="8572500" cy="388590"/>
          </a:xfrm>
          <a:prstGeom prst="roundRect">
            <a:avLst>
              <a:gd name="adj" fmla="val 9805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7180" y="3834705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for multi-cloud. Bicep/ARM for Azure-only with simpler state.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018282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780282"/>
            <a:ext cx="4238625" cy="718096"/>
          </a:xfrm>
          <a:prstGeom prst="roundRect">
            <a:avLst>
              <a:gd name="adj" fmla="val 53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780282"/>
            <a:ext cx="0" cy="71809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150" y="1932682"/>
            <a:ext cx="4051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Remote State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150" y="2237482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Storage backend with state locking for teams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619625" y="1780282"/>
            <a:ext cx="4238625" cy="718096"/>
          </a:xfrm>
          <a:prstGeom prst="roundRect">
            <a:avLst>
              <a:gd name="adj" fmla="val 53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38675" y="1780282"/>
            <a:ext cx="0" cy="71809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2025" y="1932682"/>
            <a:ext cx="4051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Everything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72025" y="2237482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.tf files in Git, never commit state or secrets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85750" y="2593628"/>
            <a:ext cx="4238625" cy="718096"/>
          </a:xfrm>
          <a:prstGeom prst="roundRect">
            <a:avLst>
              <a:gd name="adj" fmla="val 53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04800" y="2593628"/>
            <a:ext cx="0" cy="71809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150" y="2746028"/>
            <a:ext cx="4051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Provider Versions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150" y="3050828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versions to prevent breaking changes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19625" y="2593628"/>
            <a:ext cx="4238625" cy="718096"/>
          </a:xfrm>
          <a:prstGeom prst="roundRect">
            <a:avLst>
              <a:gd name="adj" fmla="val 53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38675" y="2593628"/>
            <a:ext cx="0" cy="71809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2025" y="2746028"/>
            <a:ext cx="4051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Modules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72025" y="3050828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reusable patterns, share across teams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85750" y="3406973"/>
            <a:ext cx="4238625" cy="718096"/>
          </a:xfrm>
          <a:prstGeom prst="roundRect">
            <a:avLst>
              <a:gd name="adj" fmla="val 53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04800" y="3406973"/>
            <a:ext cx="0" cy="71809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150" y="3559373"/>
            <a:ext cx="4051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All Resources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8150" y="3864173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Environment, owner, project, cost center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19625" y="3406973"/>
            <a:ext cx="4238625" cy="718096"/>
          </a:xfrm>
          <a:prstGeom prst="roundRect">
            <a:avLst>
              <a:gd name="adj" fmla="val 53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38675" y="3406973"/>
            <a:ext cx="0" cy="71809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2025" y="3559373"/>
            <a:ext cx="4051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Plan Before Apply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72025" y="3864173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changes carefully before executing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70657"/>
            <a:ext cx="51880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0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713607"/>
            <a:ext cx="8572500" cy="748457"/>
          </a:xfrm>
          <a:prstGeom prst="roundRect">
            <a:avLst>
              <a:gd name="adj" fmla="val 5090"/>
            </a:avLst>
          </a:prstGeom>
          <a:solidFill>
            <a:srgbClr val="DC3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885057"/>
            <a:ext cx="84719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Secrets to Git!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9100" y="2155478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number one security mistake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85750" y="2747814"/>
            <a:ext cx="2654350" cy="750540"/>
          </a:xfrm>
          <a:prstGeom prst="roundRect">
            <a:avLst>
              <a:gd name="adj" fmla="val 507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4800" y="2747814"/>
            <a:ext cx="0" cy="7505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150" y="2900214"/>
            <a:ext cx="2435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Key Vault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150" y="3224064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secrets centrally and securely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44900" y="2747814"/>
            <a:ext cx="2654350" cy="750540"/>
          </a:xfrm>
          <a:prstGeom prst="roundRect">
            <a:avLst>
              <a:gd name="adj" fmla="val 507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63950" y="2747814"/>
            <a:ext cx="0" cy="7505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7300" y="2900214"/>
            <a:ext cx="2435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97300" y="3224064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CI/CD and local development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04049" y="2747814"/>
            <a:ext cx="2654350" cy="750540"/>
          </a:xfrm>
          <a:prstGeom prst="roundRect">
            <a:avLst>
              <a:gd name="adj" fmla="val 507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23099" y="2747814"/>
            <a:ext cx="0" cy="7505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6449" y="2900214"/>
            <a:ext cx="2435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Variables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6449" y="3224064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as sensitive in configuration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5750" y="3784104"/>
            <a:ext cx="8572500" cy="388590"/>
          </a:xfrm>
          <a:prstGeom prst="roundRect">
            <a:avLst>
              <a:gd name="adj" fmla="val 9805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04800" y="3784104"/>
            <a:ext cx="0" cy="38859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9100" y="3917454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Service Principal with least privilege. Enable state encryption. Rotate secrets regularly.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67630"/>
            <a:ext cx="6771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Errors and Solutions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329630"/>
            <a:ext cx="4238625" cy="800100"/>
          </a:xfrm>
          <a:prstGeom prst="roundRect">
            <a:avLst>
              <a:gd name="adj" fmla="val 476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329630"/>
            <a:ext cx="0" cy="80010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9100" y="14629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Lock Error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9100" y="17677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Wait or terraform force-unlock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19625" y="1329630"/>
            <a:ext cx="4238625" cy="800100"/>
          </a:xfrm>
          <a:prstGeom prst="roundRect">
            <a:avLst>
              <a:gd name="adj" fmla="val 476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38675" y="1329630"/>
            <a:ext cx="0" cy="80010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2975" y="14629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Version Conflict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2975" y="17677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Pin versions with ~&gt; operator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5750" y="2224980"/>
            <a:ext cx="4238625" cy="800100"/>
          </a:xfrm>
          <a:prstGeom prst="roundRect">
            <a:avLst>
              <a:gd name="adj" fmla="val 476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04800" y="2224980"/>
            <a:ext cx="0" cy="80010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9100" y="235833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Failed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9100" y="266313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 login or verify credentials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9625" y="2224980"/>
            <a:ext cx="4238625" cy="800100"/>
          </a:xfrm>
          <a:prstGeom prst="roundRect">
            <a:avLst>
              <a:gd name="adj" fmla="val 476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38675" y="2224980"/>
            <a:ext cx="0" cy="80010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2975" y="235833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Already Exists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2975" y="266313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terraform import to add to state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5750" y="3120330"/>
            <a:ext cx="4238625" cy="800100"/>
          </a:xfrm>
          <a:prstGeom prst="roundRect">
            <a:avLst>
              <a:gd name="adj" fmla="val 476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04800" y="3120330"/>
            <a:ext cx="0" cy="80010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100" y="32536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Drift Detected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9100" y="35584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terraform refresh or reapply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9625" y="3120330"/>
            <a:ext cx="4238625" cy="800100"/>
          </a:xfrm>
          <a:prstGeom prst="roundRect">
            <a:avLst>
              <a:gd name="adj" fmla="val 476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38675" y="3120330"/>
            <a:ext cx="0" cy="80010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2975" y="32536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Error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2975" y="35584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terraform validate to identify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85750" y="4187130"/>
            <a:ext cx="8572500" cy="388590"/>
          </a:xfrm>
          <a:prstGeom prst="roundRect">
            <a:avLst>
              <a:gd name="adj" fmla="val 9805"/>
            </a:avLst>
          </a:prstGeom>
          <a:solidFill>
            <a:srgbClr val="D1EC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04800" y="4187130"/>
            <a:ext cx="0" cy="38859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9100" y="4320480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debug logging: TF_LOG=DEBUG terraform apply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9946" y="650825"/>
            <a:ext cx="3743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230957" y="1679525"/>
            <a:ext cx="26820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22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66604" y="2422475"/>
            <a:ext cx="3010793" cy="2070199"/>
          </a:xfrm>
          <a:prstGeom prst="roundRect">
            <a:avLst>
              <a:gd name="adj" fmla="val 368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0806" y="2651075"/>
            <a:ext cx="26823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230806" y="2965400"/>
            <a:ext cx="2682389" cy="1336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Terraform enables Infrastructure as Code</a:t>
            </a:r>
            <a:endParaRPr lang="en-US" sz="975" dirty="0"/>
          </a:p>
          <a:p>
            <a:pPr algn="ctr" indent="0" marL="0">
              <a:lnSpc>
                <a:spcPts val="175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Communicates with Azure via REST API</a:t>
            </a:r>
            <a:endParaRPr lang="en-US" sz="975" dirty="0"/>
          </a:p>
          <a:p>
            <a:pPr algn="ctr" indent="0" marL="0">
              <a:lnSpc>
                <a:spcPts val="175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State management is critical</a:t>
            </a:r>
            <a:endParaRPr lang="en-US" sz="975" dirty="0"/>
          </a:p>
          <a:p>
            <a:pPr algn="ctr" indent="0" marL="0">
              <a:lnSpc>
                <a:spcPts val="175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Security first - never commit secrets</a:t>
            </a:r>
            <a:endParaRPr lang="en-US" sz="975" dirty="0"/>
          </a:p>
          <a:p>
            <a:pPr algn="ctr" indent="0" marL="0">
              <a:lnSpc>
                <a:spcPts val="175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Always plan before apply</a:t>
            </a:r>
            <a:endParaRPr lang="en-US" sz="975" dirty="0"/>
          </a:p>
          <a:p>
            <a:pPr algn="ctr" indent="0" marL="0">
              <a:lnSpc>
                <a:spcPts val="175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Treat infrastructure code like application code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- Infrastructure as Code for Azure</dc:title>
  <dc:subject>Complete Terraform Guide: Architecture, Implementation &amp; Best Practices</dc:subject>
  <dc:creator>Terraform Training</dc:creator>
  <cp:lastModifiedBy>Terraform Training</cp:lastModifiedBy>
  <cp:revision>1</cp:revision>
  <dcterms:created xsi:type="dcterms:W3CDTF">2025-11-24T01:43:47Z</dcterms:created>
  <dcterms:modified xsi:type="dcterms:W3CDTF">2025-11-24T01:43:47Z</dcterms:modified>
</cp:coreProperties>
</file>